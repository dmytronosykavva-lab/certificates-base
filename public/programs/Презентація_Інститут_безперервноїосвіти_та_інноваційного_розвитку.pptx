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ptos Bold" charset="1" panose="020B0004020202020204"/>
      <p:regular r:id="rId19"/>
    </p:embeddedFont>
    <p:embeddedFont>
      <p:font typeface="Calibri (MS) Bold" charset="1" panose="020F0702030404030204"/>
      <p:regular r:id="rId20"/>
    </p:embeddedFont>
    <p:embeddedFont>
      <p:font typeface="Aptos" charset="1" panose="020B00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77657" y="0"/>
            <a:ext cx="1372676" cy="10295039"/>
            <a:chOff x="0" y="0"/>
            <a:chExt cx="1830235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0197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A69A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481696" y="0"/>
            <a:ext cx="1029500" cy="10295039"/>
            <a:chOff x="0" y="0"/>
            <a:chExt cx="1372667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616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372616">
                  <a:moveTo>
                    <a:pt x="0" y="0"/>
                  </a:moveTo>
                  <a:lnTo>
                    <a:pt x="1372616" y="0"/>
                  </a:lnTo>
                  <a:lnTo>
                    <a:pt x="1372616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A9AB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442568" y="0"/>
            <a:ext cx="754971" cy="10295039"/>
            <a:chOff x="0" y="0"/>
            <a:chExt cx="1006627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6602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233015" y="2415"/>
            <a:ext cx="2052571" cy="2052571"/>
          </a:xfrm>
          <a:custGeom>
            <a:avLst/>
            <a:gdLst/>
            <a:ahLst/>
            <a:cxnLst/>
            <a:rect r="r" b="b" t="t" l="l"/>
            <a:pathLst>
              <a:path h="2052571" w="2052571">
                <a:moveTo>
                  <a:pt x="0" y="0"/>
                </a:moveTo>
                <a:lnTo>
                  <a:pt x="2052570" y="0"/>
                </a:lnTo>
                <a:lnTo>
                  <a:pt x="2052570" y="2052570"/>
                </a:lnTo>
                <a:lnTo>
                  <a:pt x="0" y="2052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129118"/>
            <a:ext cx="11598107" cy="255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b="true" sz="560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ІНСТИТУТ</a:t>
            </a:r>
          </a:p>
          <a:p>
            <a:pPr algn="l">
              <a:lnSpc>
                <a:spcPts val="6720"/>
              </a:lnSpc>
            </a:pPr>
            <a:r>
              <a:rPr lang="en-US" b="true" sz="56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БЕЗПЕРЕРВНОЇ ОСВІТИ</a:t>
            </a:r>
          </a:p>
          <a:p>
            <a:pPr algn="l">
              <a:lnSpc>
                <a:spcPts val="6720"/>
              </a:lnSpc>
            </a:pPr>
            <a:r>
              <a:rPr lang="en-US" b="true" sz="56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ТА ІННОВАЦІЙНОГО РОЗВИТКУ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38200"/>
            <a:ext cx="1252203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Харківський національний університет </a:t>
            </a:r>
            <a:r>
              <a:rPr lang="en-US" sz="255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імені В.Н. Каразіна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010613"/>
            <a:ext cx="10798502" cy="2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6"/>
              </a:lnSpc>
            </a:pPr>
            <a:r>
              <a:rPr lang="en-US" sz="1876" b="true">
                <a:solidFill>
                  <a:srgbClr val="DAA541"/>
                </a:solidFill>
                <a:latin typeface="Aptos Bold"/>
                <a:ea typeface="Aptos Bold"/>
                <a:cs typeface="Aptos Bold"/>
                <a:sym typeface="Aptos Bold"/>
              </a:rPr>
              <a:t>ОСВІТА • ЦИФРОВІ ТЕХНОЛОГІЇ • АНАЛІТИКА • ІННОВАЦІЇ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0"/>
            <a:ext cx="1372676" cy="10295039"/>
            <a:chOff x="0" y="0"/>
            <a:chExt cx="1830235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0197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A69A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332739" y="0"/>
            <a:ext cx="1029500" cy="10295039"/>
            <a:chOff x="0" y="0"/>
            <a:chExt cx="1372667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616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372616">
                  <a:moveTo>
                    <a:pt x="0" y="0"/>
                  </a:moveTo>
                  <a:lnTo>
                    <a:pt x="1372616" y="0"/>
                  </a:lnTo>
                  <a:lnTo>
                    <a:pt x="1372616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A9AB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293612" y="0"/>
            <a:ext cx="754971" cy="10295039"/>
            <a:chOff x="0" y="0"/>
            <a:chExt cx="1006627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6602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4737270" y="1583229"/>
            <a:ext cx="1252203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Інститут безперервної освіти та інноваційного розвитку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37270" y="2951001"/>
            <a:ext cx="12522030" cy="5549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Головне завдання Інституту полягає у </a:t>
            </a:r>
            <a:r>
              <a:rPr lang="en-US" sz="3499" b="true">
                <a:solidFill>
                  <a:srgbClr val="262F3A"/>
                </a:solidFill>
                <a:latin typeface="Aptos Bold"/>
                <a:ea typeface="Aptos Bold"/>
                <a:cs typeface="Aptos Bold"/>
                <a:sym typeface="Aptos Bold"/>
              </a:rPr>
              <a:t>розвитку людського капіталу через забезпечення доступу до освіти впро</a:t>
            </a:r>
            <a:r>
              <a:rPr lang="en-US" sz="3499" b="true">
                <a:solidFill>
                  <a:srgbClr val="262F3A"/>
                </a:solidFill>
                <a:latin typeface="Aptos Bold"/>
                <a:ea typeface="Aptos Bold"/>
                <a:cs typeface="Aptos Bold"/>
                <a:sym typeface="Aptos Bold"/>
              </a:rPr>
              <a:t>довж життя, професійного та особистісного зростання, набуття актуальних компетентностей і адаптації людини до змін ринку праці та суспільства</a:t>
            </a:r>
            <a:r>
              <a:rPr lang="en-US" sz="3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, а також у впровадженні освітніх, соціальних і наукових інновацій, трансфері знань, технологій та інноваційних рішень у практику задля підвищення професійної спроможності людей і сприяння сталому розвитку громад, регіону та держави.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737270" y="2124478"/>
            <a:ext cx="1372676" cy="75495"/>
            <a:chOff x="0" y="0"/>
            <a:chExt cx="1830235" cy="1006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30197" cy="100711"/>
            </a:xfrm>
            <a:custGeom>
              <a:avLst/>
              <a:gdLst/>
              <a:ahLst/>
              <a:cxnLst/>
              <a:rect r="r" b="b" t="t" l="l"/>
              <a:pathLst>
                <a:path h="10071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853173" y="98522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642639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Соціальна місія Інституту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846411"/>
            <a:ext cx="1372676" cy="75495"/>
            <a:chOff x="0" y="0"/>
            <a:chExt cx="1830235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0197" cy="100711"/>
            </a:xfrm>
            <a:custGeom>
              <a:avLst/>
              <a:gdLst/>
              <a:ahLst/>
              <a:cxnLst/>
              <a:rect r="r" b="b" t="t" l="l"/>
              <a:pathLst>
                <a:path h="10071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2064782"/>
            <a:ext cx="1615192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9788A"/>
                </a:solidFill>
                <a:latin typeface="Aptos"/>
                <a:ea typeface="Aptos"/>
                <a:cs typeface="Aptos"/>
                <a:sym typeface="Aptos"/>
              </a:rPr>
              <a:t>Розвиток людського капіталу та адаптація людини до змін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7994" y="2883932"/>
            <a:ext cx="1617201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ІНСТИТУТ = МЕХАНІЗМ АДАПТАЦІЇ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45584" y="3915150"/>
            <a:ext cx="4887287" cy="3514611"/>
            <a:chOff x="0" y="0"/>
            <a:chExt cx="6516383" cy="46861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9525" y="9525"/>
              <a:ext cx="6497320" cy="4667123"/>
            </a:xfrm>
            <a:custGeom>
              <a:avLst/>
              <a:gdLst/>
              <a:ahLst/>
              <a:cxnLst/>
              <a:rect r="r" b="b" t="t" l="l"/>
              <a:pathLst>
                <a:path h="4667123" w="6497320">
                  <a:moveTo>
                    <a:pt x="0" y="777875"/>
                  </a:moveTo>
                  <a:cubicBezTo>
                    <a:pt x="0" y="348234"/>
                    <a:pt x="348615" y="0"/>
                    <a:pt x="778764" y="0"/>
                  </a:cubicBezTo>
                  <a:lnTo>
                    <a:pt x="5718556" y="0"/>
                  </a:lnTo>
                  <a:cubicBezTo>
                    <a:pt x="6148705" y="0"/>
                    <a:pt x="6497320" y="348234"/>
                    <a:pt x="6497320" y="777875"/>
                  </a:cubicBezTo>
                  <a:lnTo>
                    <a:pt x="6497320" y="3889248"/>
                  </a:lnTo>
                  <a:cubicBezTo>
                    <a:pt x="6497320" y="4318889"/>
                    <a:pt x="6148705" y="4667123"/>
                    <a:pt x="5718556" y="4667123"/>
                  </a:cubicBezTo>
                  <a:lnTo>
                    <a:pt x="778764" y="4667123"/>
                  </a:lnTo>
                  <a:cubicBezTo>
                    <a:pt x="348615" y="4667123"/>
                    <a:pt x="0" y="4318889"/>
                    <a:pt x="0" y="3889248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6370" cy="4686173"/>
            </a:xfrm>
            <a:custGeom>
              <a:avLst/>
              <a:gdLst/>
              <a:ahLst/>
              <a:cxnLst/>
              <a:rect r="r" b="b" t="t" l="l"/>
              <a:pathLst>
                <a:path h="4686173" w="6516370">
                  <a:moveTo>
                    <a:pt x="0" y="787400"/>
                  </a:moveTo>
                  <a:cubicBezTo>
                    <a:pt x="0" y="352552"/>
                    <a:pt x="352933" y="0"/>
                    <a:pt x="788289" y="0"/>
                  </a:cubicBezTo>
                  <a:lnTo>
                    <a:pt x="5728081" y="0"/>
                  </a:lnTo>
                  <a:lnTo>
                    <a:pt x="5728081" y="9525"/>
                  </a:lnTo>
                  <a:lnTo>
                    <a:pt x="5728081" y="0"/>
                  </a:lnTo>
                  <a:cubicBezTo>
                    <a:pt x="6163437" y="0"/>
                    <a:pt x="6516370" y="352552"/>
                    <a:pt x="6516370" y="787400"/>
                  </a:cubicBezTo>
                  <a:lnTo>
                    <a:pt x="6506845" y="787400"/>
                  </a:lnTo>
                  <a:lnTo>
                    <a:pt x="6516370" y="787400"/>
                  </a:lnTo>
                  <a:lnTo>
                    <a:pt x="6516370" y="3898773"/>
                  </a:lnTo>
                  <a:lnTo>
                    <a:pt x="6506845" y="3898773"/>
                  </a:lnTo>
                  <a:lnTo>
                    <a:pt x="6516370" y="3898773"/>
                  </a:lnTo>
                  <a:cubicBezTo>
                    <a:pt x="6516370" y="4333621"/>
                    <a:pt x="6163437" y="4686173"/>
                    <a:pt x="5728081" y="4686173"/>
                  </a:cubicBezTo>
                  <a:lnTo>
                    <a:pt x="5728081" y="4676648"/>
                  </a:lnTo>
                  <a:lnTo>
                    <a:pt x="5728081" y="4686173"/>
                  </a:lnTo>
                  <a:lnTo>
                    <a:pt x="788289" y="4686173"/>
                  </a:lnTo>
                  <a:lnTo>
                    <a:pt x="788289" y="4676648"/>
                  </a:lnTo>
                  <a:lnTo>
                    <a:pt x="788289" y="4686173"/>
                  </a:lnTo>
                  <a:cubicBezTo>
                    <a:pt x="352933" y="4686173"/>
                    <a:pt x="0" y="4333621"/>
                    <a:pt x="0" y="3898773"/>
                  </a:cubicBezTo>
                  <a:lnTo>
                    <a:pt x="0" y="787400"/>
                  </a:lnTo>
                  <a:lnTo>
                    <a:pt x="9525" y="787400"/>
                  </a:lnTo>
                  <a:lnTo>
                    <a:pt x="0" y="787400"/>
                  </a:lnTo>
                  <a:moveTo>
                    <a:pt x="19050" y="787400"/>
                  </a:moveTo>
                  <a:lnTo>
                    <a:pt x="19050" y="3898773"/>
                  </a:lnTo>
                  <a:lnTo>
                    <a:pt x="9525" y="3898773"/>
                  </a:lnTo>
                  <a:lnTo>
                    <a:pt x="19050" y="3898773"/>
                  </a:lnTo>
                  <a:cubicBezTo>
                    <a:pt x="19050" y="4323080"/>
                    <a:pt x="363474" y="4667123"/>
                    <a:pt x="788289" y="4667123"/>
                  </a:cubicBezTo>
                  <a:lnTo>
                    <a:pt x="5728081" y="4667123"/>
                  </a:lnTo>
                  <a:cubicBezTo>
                    <a:pt x="6152896" y="4667123"/>
                    <a:pt x="6497320" y="4323080"/>
                    <a:pt x="6497320" y="3898773"/>
                  </a:cubicBezTo>
                  <a:lnTo>
                    <a:pt x="6497320" y="787400"/>
                  </a:lnTo>
                  <a:cubicBezTo>
                    <a:pt x="6497320" y="363093"/>
                    <a:pt x="6152896" y="19050"/>
                    <a:pt x="5728081" y="19050"/>
                  </a:cubicBezTo>
                  <a:lnTo>
                    <a:pt x="788289" y="19050"/>
                  </a:lnTo>
                  <a:lnTo>
                    <a:pt x="788289" y="9525"/>
                  </a:lnTo>
                  <a:lnTo>
                    <a:pt x="788289" y="19050"/>
                  </a:lnTo>
                  <a:cubicBezTo>
                    <a:pt x="363474" y="19050"/>
                    <a:pt x="19050" y="363093"/>
                    <a:pt x="19050" y="787400"/>
                  </a:cubicBezTo>
                  <a:close/>
                </a:path>
              </a:pathLst>
            </a:custGeom>
            <a:solidFill>
              <a:srgbClr val="E1E7E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59010" y="4392500"/>
            <a:ext cx="658882" cy="658882"/>
            <a:chOff x="0" y="0"/>
            <a:chExt cx="878510" cy="8785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2A69A5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059010" y="5578549"/>
            <a:ext cx="4003767" cy="107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200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Професійне й особистісне зростання, освіта впродовж життя, нові компетентності.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80968" y="4509978"/>
            <a:ext cx="334488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1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Людина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036336" y="4409137"/>
            <a:ext cx="658882" cy="590245"/>
            <a:chOff x="0" y="0"/>
            <a:chExt cx="878510" cy="7869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78510" cy="786999"/>
            </a:xfrm>
            <a:custGeom>
              <a:avLst/>
              <a:gdLst/>
              <a:ahLst/>
              <a:cxnLst/>
              <a:rect r="r" b="b" t="t" l="l"/>
              <a:pathLst>
                <a:path h="786999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937" t="0" r="-64937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878510" cy="786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Л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29651" y="3915150"/>
            <a:ext cx="4887287" cy="3514611"/>
            <a:chOff x="0" y="0"/>
            <a:chExt cx="6516383" cy="4686148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516383" cy="4686148"/>
              <a:chOff x="0" y="0"/>
              <a:chExt cx="6516383" cy="468614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9525" y="9525"/>
                <a:ext cx="6497320" cy="4667123"/>
              </a:xfrm>
              <a:custGeom>
                <a:avLst/>
                <a:gdLst/>
                <a:ahLst/>
                <a:cxnLst/>
                <a:rect r="r" b="b" t="t" l="l"/>
                <a:pathLst>
                  <a:path h="4667123" w="6497320">
                    <a:moveTo>
                      <a:pt x="0" y="777875"/>
                    </a:moveTo>
                    <a:cubicBezTo>
                      <a:pt x="0" y="348234"/>
                      <a:pt x="348615" y="0"/>
                      <a:pt x="778764" y="0"/>
                    </a:cubicBezTo>
                    <a:lnTo>
                      <a:pt x="5718556" y="0"/>
                    </a:lnTo>
                    <a:cubicBezTo>
                      <a:pt x="6148705" y="0"/>
                      <a:pt x="6497320" y="348234"/>
                      <a:pt x="6497320" y="777875"/>
                    </a:cubicBezTo>
                    <a:lnTo>
                      <a:pt x="6497320" y="3889248"/>
                    </a:lnTo>
                    <a:cubicBezTo>
                      <a:pt x="6497320" y="4318889"/>
                      <a:pt x="6148705" y="4667123"/>
                      <a:pt x="5718556" y="4667123"/>
                    </a:cubicBezTo>
                    <a:lnTo>
                      <a:pt x="778764" y="4667123"/>
                    </a:lnTo>
                    <a:cubicBezTo>
                      <a:pt x="348615" y="4667123"/>
                      <a:pt x="0" y="4318889"/>
                      <a:pt x="0" y="3889248"/>
                    </a:cubicBezTo>
                    <a:close/>
                  </a:path>
                </a:pathLst>
              </a:custGeom>
              <a:solidFill>
                <a:srgbClr val="F4F7FA"/>
              </a:solidFill>
            </p:spPr>
          </p:sp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516370" cy="4686173"/>
              </a:xfrm>
              <a:custGeom>
                <a:avLst/>
                <a:gdLst/>
                <a:ahLst/>
                <a:cxnLst/>
                <a:rect r="r" b="b" t="t" l="l"/>
                <a:pathLst>
                  <a:path h="4686173" w="6516370">
                    <a:moveTo>
                      <a:pt x="0" y="787400"/>
                    </a:moveTo>
                    <a:cubicBezTo>
                      <a:pt x="0" y="352552"/>
                      <a:pt x="352933" y="0"/>
                      <a:pt x="788289" y="0"/>
                    </a:cubicBezTo>
                    <a:lnTo>
                      <a:pt x="5728081" y="0"/>
                    </a:lnTo>
                    <a:lnTo>
                      <a:pt x="5728081" y="9525"/>
                    </a:lnTo>
                    <a:lnTo>
                      <a:pt x="5728081" y="0"/>
                    </a:lnTo>
                    <a:cubicBezTo>
                      <a:pt x="6163437" y="0"/>
                      <a:pt x="6516370" y="352552"/>
                      <a:pt x="6516370" y="787400"/>
                    </a:cubicBezTo>
                    <a:lnTo>
                      <a:pt x="6506845" y="787400"/>
                    </a:lnTo>
                    <a:lnTo>
                      <a:pt x="6516370" y="787400"/>
                    </a:lnTo>
                    <a:lnTo>
                      <a:pt x="6516370" y="3898773"/>
                    </a:lnTo>
                    <a:lnTo>
                      <a:pt x="6506845" y="3898773"/>
                    </a:lnTo>
                    <a:lnTo>
                      <a:pt x="6516370" y="3898773"/>
                    </a:lnTo>
                    <a:cubicBezTo>
                      <a:pt x="6516370" y="4333621"/>
                      <a:pt x="6163437" y="4686173"/>
                      <a:pt x="5728081" y="4686173"/>
                    </a:cubicBezTo>
                    <a:lnTo>
                      <a:pt x="5728081" y="4676648"/>
                    </a:lnTo>
                    <a:lnTo>
                      <a:pt x="5728081" y="4686173"/>
                    </a:lnTo>
                    <a:lnTo>
                      <a:pt x="788289" y="4686173"/>
                    </a:lnTo>
                    <a:lnTo>
                      <a:pt x="788289" y="4676648"/>
                    </a:lnTo>
                    <a:lnTo>
                      <a:pt x="788289" y="4686173"/>
                    </a:lnTo>
                    <a:cubicBezTo>
                      <a:pt x="352933" y="4686173"/>
                      <a:pt x="0" y="4333621"/>
                      <a:pt x="0" y="3898773"/>
                    </a:cubicBezTo>
                    <a:lnTo>
                      <a:pt x="0" y="787400"/>
                    </a:lnTo>
                    <a:lnTo>
                      <a:pt x="9525" y="787400"/>
                    </a:lnTo>
                    <a:lnTo>
                      <a:pt x="0" y="787400"/>
                    </a:lnTo>
                    <a:moveTo>
                      <a:pt x="19050" y="787400"/>
                    </a:moveTo>
                    <a:lnTo>
                      <a:pt x="19050" y="3898773"/>
                    </a:lnTo>
                    <a:lnTo>
                      <a:pt x="9525" y="3898773"/>
                    </a:lnTo>
                    <a:lnTo>
                      <a:pt x="19050" y="3898773"/>
                    </a:lnTo>
                    <a:cubicBezTo>
                      <a:pt x="19050" y="4323080"/>
                      <a:pt x="363474" y="4667123"/>
                      <a:pt x="788289" y="4667123"/>
                    </a:cubicBezTo>
                    <a:lnTo>
                      <a:pt x="5728081" y="4667123"/>
                    </a:lnTo>
                    <a:cubicBezTo>
                      <a:pt x="6152896" y="4667123"/>
                      <a:pt x="6497320" y="4323080"/>
                      <a:pt x="6497320" y="3898773"/>
                    </a:cubicBezTo>
                    <a:lnTo>
                      <a:pt x="6497320" y="787400"/>
                    </a:lnTo>
                    <a:cubicBezTo>
                      <a:pt x="6497320" y="363093"/>
                      <a:pt x="6152896" y="19050"/>
                      <a:pt x="5728081" y="19050"/>
                    </a:cubicBezTo>
                    <a:lnTo>
                      <a:pt x="788289" y="19050"/>
                    </a:lnTo>
                    <a:lnTo>
                      <a:pt x="788289" y="9525"/>
                    </a:lnTo>
                    <a:lnTo>
                      <a:pt x="788289" y="19050"/>
                    </a:lnTo>
                    <a:cubicBezTo>
                      <a:pt x="363474" y="19050"/>
                      <a:pt x="19050" y="363093"/>
                      <a:pt x="19050" y="787400"/>
                    </a:cubicBezTo>
                    <a:close/>
                  </a:path>
                </a:pathLst>
              </a:custGeom>
              <a:solidFill>
                <a:srgbClr val="E1E7ED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589013" y="612891"/>
              <a:ext cx="878510" cy="878510"/>
              <a:chOff x="0" y="0"/>
              <a:chExt cx="878510" cy="87851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78459" cy="878459"/>
              </a:xfrm>
              <a:custGeom>
                <a:avLst/>
                <a:gdLst/>
                <a:ahLst/>
                <a:cxnLst/>
                <a:rect r="r" b="b" t="t" l="l"/>
                <a:pathLst>
                  <a:path h="878459" w="878459">
                    <a:moveTo>
                      <a:pt x="0" y="439293"/>
                    </a:moveTo>
                    <a:cubicBezTo>
                      <a:pt x="0" y="196723"/>
                      <a:pt x="196723" y="0"/>
                      <a:pt x="439293" y="0"/>
                    </a:cubicBezTo>
                    <a:cubicBezTo>
                      <a:pt x="681863" y="0"/>
                      <a:pt x="878459" y="196723"/>
                      <a:pt x="878459" y="439293"/>
                    </a:cubicBezTo>
                    <a:cubicBezTo>
                      <a:pt x="878459" y="681863"/>
                      <a:pt x="681863" y="878459"/>
                      <a:pt x="439293" y="878459"/>
                    </a:cubicBezTo>
                    <a:cubicBezTo>
                      <a:pt x="196723" y="878459"/>
                      <a:pt x="0" y="681863"/>
                      <a:pt x="0" y="439293"/>
                    </a:cubicBezTo>
                    <a:close/>
                  </a:path>
                </a:pathLst>
              </a:custGeom>
              <a:solidFill>
                <a:srgbClr val="3A9AB4"/>
              </a:solidFill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589013" y="2127470"/>
              <a:ext cx="5338356" cy="1429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60"/>
                </a:lnSpc>
              </a:pPr>
              <a:r>
                <a:rPr lang="en-US" sz="2200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Поширення знань, соціальні та наукові інновації, розвиток громад і регіону.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8083126" y="4475659"/>
            <a:ext cx="334488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1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Суспільство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186118" y="4409137"/>
            <a:ext cx="658882" cy="590245"/>
            <a:chOff x="0" y="0"/>
            <a:chExt cx="878510" cy="78699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78510" cy="786999"/>
            </a:xfrm>
            <a:custGeom>
              <a:avLst/>
              <a:gdLst/>
              <a:ahLst/>
              <a:cxnLst/>
              <a:rect r="r" b="b" t="t" l="l"/>
              <a:pathLst>
                <a:path h="786999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937" t="0" r="-64937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878510" cy="786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С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905145" y="3915150"/>
            <a:ext cx="4887287" cy="3514611"/>
            <a:chOff x="0" y="0"/>
            <a:chExt cx="6516383" cy="46861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9525" y="9525"/>
              <a:ext cx="6497320" cy="4667123"/>
            </a:xfrm>
            <a:custGeom>
              <a:avLst/>
              <a:gdLst/>
              <a:ahLst/>
              <a:cxnLst/>
              <a:rect r="r" b="b" t="t" l="l"/>
              <a:pathLst>
                <a:path h="4667123" w="6497320">
                  <a:moveTo>
                    <a:pt x="0" y="777875"/>
                  </a:moveTo>
                  <a:cubicBezTo>
                    <a:pt x="0" y="348234"/>
                    <a:pt x="348615" y="0"/>
                    <a:pt x="778764" y="0"/>
                  </a:cubicBezTo>
                  <a:lnTo>
                    <a:pt x="5718556" y="0"/>
                  </a:lnTo>
                  <a:cubicBezTo>
                    <a:pt x="6148705" y="0"/>
                    <a:pt x="6497320" y="348234"/>
                    <a:pt x="6497320" y="777875"/>
                  </a:cubicBezTo>
                  <a:lnTo>
                    <a:pt x="6497320" y="3889248"/>
                  </a:lnTo>
                  <a:cubicBezTo>
                    <a:pt x="6497320" y="4318889"/>
                    <a:pt x="6148705" y="4667123"/>
                    <a:pt x="5718556" y="4667123"/>
                  </a:cubicBezTo>
                  <a:lnTo>
                    <a:pt x="778764" y="4667123"/>
                  </a:lnTo>
                  <a:cubicBezTo>
                    <a:pt x="348615" y="4667123"/>
                    <a:pt x="0" y="4318889"/>
                    <a:pt x="0" y="3889248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16370" cy="4686173"/>
            </a:xfrm>
            <a:custGeom>
              <a:avLst/>
              <a:gdLst/>
              <a:ahLst/>
              <a:cxnLst/>
              <a:rect r="r" b="b" t="t" l="l"/>
              <a:pathLst>
                <a:path h="4686173" w="6516370">
                  <a:moveTo>
                    <a:pt x="0" y="787400"/>
                  </a:moveTo>
                  <a:cubicBezTo>
                    <a:pt x="0" y="352552"/>
                    <a:pt x="352933" y="0"/>
                    <a:pt x="788289" y="0"/>
                  </a:cubicBezTo>
                  <a:lnTo>
                    <a:pt x="5728081" y="0"/>
                  </a:lnTo>
                  <a:lnTo>
                    <a:pt x="5728081" y="9525"/>
                  </a:lnTo>
                  <a:lnTo>
                    <a:pt x="5728081" y="0"/>
                  </a:lnTo>
                  <a:cubicBezTo>
                    <a:pt x="6163437" y="0"/>
                    <a:pt x="6516370" y="352552"/>
                    <a:pt x="6516370" y="787400"/>
                  </a:cubicBezTo>
                  <a:lnTo>
                    <a:pt x="6506845" y="787400"/>
                  </a:lnTo>
                  <a:lnTo>
                    <a:pt x="6516370" y="787400"/>
                  </a:lnTo>
                  <a:lnTo>
                    <a:pt x="6516370" y="3898773"/>
                  </a:lnTo>
                  <a:lnTo>
                    <a:pt x="6506845" y="3898773"/>
                  </a:lnTo>
                  <a:lnTo>
                    <a:pt x="6516370" y="3898773"/>
                  </a:lnTo>
                  <a:cubicBezTo>
                    <a:pt x="6516370" y="4333621"/>
                    <a:pt x="6163437" y="4686173"/>
                    <a:pt x="5728081" y="4686173"/>
                  </a:cubicBezTo>
                  <a:lnTo>
                    <a:pt x="5728081" y="4676648"/>
                  </a:lnTo>
                  <a:lnTo>
                    <a:pt x="5728081" y="4686173"/>
                  </a:lnTo>
                  <a:lnTo>
                    <a:pt x="788289" y="4686173"/>
                  </a:lnTo>
                  <a:lnTo>
                    <a:pt x="788289" y="4676648"/>
                  </a:lnTo>
                  <a:lnTo>
                    <a:pt x="788289" y="4686173"/>
                  </a:lnTo>
                  <a:cubicBezTo>
                    <a:pt x="352933" y="4686173"/>
                    <a:pt x="0" y="4333621"/>
                    <a:pt x="0" y="3898773"/>
                  </a:cubicBezTo>
                  <a:lnTo>
                    <a:pt x="0" y="787400"/>
                  </a:lnTo>
                  <a:lnTo>
                    <a:pt x="9525" y="787400"/>
                  </a:lnTo>
                  <a:lnTo>
                    <a:pt x="0" y="787400"/>
                  </a:lnTo>
                  <a:moveTo>
                    <a:pt x="19050" y="787400"/>
                  </a:moveTo>
                  <a:lnTo>
                    <a:pt x="19050" y="3898773"/>
                  </a:lnTo>
                  <a:lnTo>
                    <a:pt x="9525" y="3898773"/>
                  </a:lnTo>
                  <a:lnTo>
                    <a:pt x="19050" y="3898773"/>
                  </a:lnTo>
                  <a:cubicBezTo>
                    <a:pt x="19050" y="4323080"/>
                    <a:pt x="363474" y="4667123"/>
                    <a:pt x="788289" y="4667123"/>
                  </a:cubicBezTo>
                  <a:lnTo>
                    <a:pt x="5728081" y="4667123"/>
                  </a:lnTo>
                  <a:cubicBezTo>
                    <a:pt x="6152896" y="4667123"/>
                    <a:pt x="6497320" y="4323080"/>
                    <a:pt x="6497320" y="3898773"/>
                  </a:cubicBezTo>
                  <a:lnTo>
                    <a:pt x="6497320" y="787400"/>
                  </a:lnTo>
                  <a:cubicBezTo>
                    <a:pt x="6497320" y="363093"/>
                    <a:pt x="6152896" y="19050"/>
                    <a:pt x="5728081" y="19050"/>
                  </a:cubicBezTo>
                  <a:lnTo>
                    <a:pt x="788289" y="19050"/>
                  </a:lnTo>
                  <a:lnTo>
                    <a:pt x="788289" y="9525"/>
                  </a:lnTo>
                  <a:lnTo>
                    <a:pt x="788289" y="19050"/>
                  </a:lnTo>
                  <a:cubicBezTo>
                    <a:pt x="363474" y="19050"/>
                    <a:pt x="19050" y="363093"/>
                    <a:pt x="19050" y="787400"/>
                  </a:cubicBezTo>
                  <a:close/>
                </a:path>
              </a:pathLst>
            </a:custGeom>
            <a:solidFill>
              <a:srgbClr val="E1E7ED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459224" y="4409137"/>
            <a:ext cx="658882" cy="658882"/>
            <a:chOff x="0" y="0"/>
            <a:chExt cx="878510" cy="87851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DAA54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459224" y="4443453"/>
            <a:ext cx="658882" cy="590249"/>
            <a:chOff x="0" y="0"/>
            <a:chExt cx="878510" cy="78699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78510" cy="787004"/>
            </a:xfrm>
            <a:custGeom>
              <a:avLst/>
              <a:gdLst/>
              <a:ahLst/>
              <a:cxnLst/>
              <a:rect r="r" b="b" t="t" l="l"/>
              <a:pathLst>
                <a:path h="787004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787004"/>
                  </a:lnTo>
                  <a:lnTo>
                    <a:pt x="0" y="7870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937" t="0" r="-64937" b="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878510" cy="786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Е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3356231" y="4475659"/>
            <a:ext cx="334488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1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Економіка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59224" y="5578549"/>
            <a:ext cx="4003767" cy="143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60"/>
              </a:lnSpc>
              <a:spcBef>
                <a:spcPct val="0"/>
              </a:spcBef>
            </a:pPr>
            <a:r>
              <a:rPr lang="en-US" sz="2200" strike="noStrike" u="none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Відповідність освіти потребам ринку праці, трансфер технологій та партнерство з бізнесом.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443543" y="7821321"/>
            <a:ext cx="1135129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Ключовий принцип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617770" y="8262073"/>
            <a:ext cx="1368111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262F3A"/>
                </a:solidFill>
                <a:latin typeface="Aptos Bold"/>
                <a:ea typeface="Aptos Bold"/>
                <a:cs typeface="Aptos Bold"/>
                <a:sym typeface="Aptos Bold"/>
              </a:rPr>
              <a:t>Не просто навчати - забезпечувати нову професійну спроможність людини </a:t>
            </a:r>
          </a:p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262F3A"/>
                </a:solidFill>
                <a:latin typeface="Aptos Bold"/>
                <a:ea typeface="Aptos Bold"/>
                <a:cs typeface="Aptos Bold"/>
                <a:sym typeface="Aptos Bold"/>
              </a:rPr>
              <a:t>та практичну цінність знань.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700773" y="9699812"/>
            <a:ext cx="572091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1358630"/>
            <a:ext cx="12722275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Інститут: нова модель університетського розвитку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2196830"/>
            <a:ext cx="1372676" cy="75495"/>
            <a:chOff x="0" y="0"/>
            <a:chExt cx="1830235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0197" cy="100711"/>
            </a:xfrm>
            <a:custGeom>
              <a:avLst/>
              <a:gdLst/>
              <a:ahLst/>
              <a:cxnLst/>
              <a:rect r="r" b="b" t="t" l="l"/>
              <a:pathLst>
                <a:path h="10071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7419612" y="8429590"/>
            <a:ext cx="344877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Функціональна логіка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40013" y="8858215"/>
            <a:ext cx="1220797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2"/>
              </a:lnSpc>
            </a:pPr>
            <a:r>
              <a:rPr lang="en-US" b="true" sz="2501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ЛЮДИНА → ЗНАННЯ → ТЕХНОЛОГІЇ → ПРАКТИКА → СУСПІЛЬНИЙ РЕЗУЛЬТАТ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00773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469467"/>
            <a:ext cx="16230600" cy="97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Відповідно до Положення забезпечує реалізацію державної політики та стратегічних пріоритетів Університету у сферах безперервної освіти, п</a:t>
            </a:r>
            <a:r>
              <a:rPr lang="en-US" sz="2000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іслядипломної підготовки, підвищення кваліфікації, цифрової трансформації освітнього процесу, розвитку стартап-екосистеми, трансферу знань та системної взаємодії з бізнесом і територіальними громадами.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3780672"/>
            <a:ext cx="15973042" cy="4325068"/>
            <a:chOff x="0" y="0"/>
            <a:chExt cx="21297390" cy="5766757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095360" cy="5766757"/>
              <a:chOff x="0" y="0"/>
              <a:chExt cx="5095360" cy="576675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8809" y="7876"/>
                <a:ext cx="5077755" cy="5751015"/>
              </a:xfrm>
              <a:custGeom>
                <a:avLst/>
                <a:gdLst/>
                <a:ahLst/>
                <a:cxnLst/>
                <a:rect r="r" b="b" t="t" l="l"/>
                <a:pathLst>
                  <a:path h="5751015" w="5077755">
                    <a:moveTo>
                      <a:pt x="0" y="757274"/>
                    </a:moveTo>
                    <a:cubicBezTo>
                      <a:pt x="0" y="339098"/>
                      <a:pt x="378887" y="0"/>
                      <a:pt x="846331" y="0"/>
                    </a:cubicBezTo>
                    <a:lnTo>
                      <a:pt x="4231422" y="0"/>
                    </a:lnTo>
                    <a:cubicBezTo>
                      <a:pt x="4698866" y="0"/>
                      <a:pt x="5077754" y="338993"/>
                      <a:pt x="5077754" y="757274"/>
                    </a:cubicBezTo>
                    <a:lnTo>
                      <a:pt x="5077754" y="4993742"/>
                    </a:lnTo>
                    <a:cubicBezTo>
                      <a:pt x="5077754" y="5412022"/>
                      <a:pt x="4698866" y="5751016"/>
                      <a:pt x="4231422" y="5751016"/>
                    </a:cubicBezTo>
                    <a:lnTo>
                      <a:pt x="846331" y="5751016"/>
                    </a:lnTo>
                    <a:cubicBezTo>
                      <a:pt x="378887" y="5751016"/>
                      <a:pt x="0" y="5412022"/>
                      <a:pt x="0" y="4993742"/>
                    </a:cubicBezTo>
                    <a:close/>
                  </a:path>
                </a:pathLst>
              </a:custGeom>
              <a:solidFill>
                <a:srgbClr val="F4F7FA"/>
              </a:solidFill>
            </p:spPr>
          </p:sp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5095373" cy="5766770"/>
              </a:xfrm>
              <a:custGeom>
                <a:avLst/>
                <a:gdLst/>
                <a:ahLst/>
                <a:cxnLst/>
                <a:rect r="r" b="b" t="t" l="l"/>
                <a:pathLst>
                  <a:path h="5766770" w="5095373">
                    <a:moveTo>
                      <a:pt x="0" y="765150"/>
                    </a:moveTo>
                    <a:cubicBezTo>
                      <a:pt x="0" y="342564"/>
                      <a:pt x="382881" y="0"/>
                      <a:pt x="855140" y="0"/>
                    </a:cubicBezTo>
                    <a:lnTo>
                      <a:pt x="4240231" y="0"/>
                    </a:lnTo>
                    <a:lnTo>
                      <a:pt x="4240231" y="7876"/>
                    </a:lnTo>
                    <a:lnTo>
                      <a:pt x="4240231" y="0"/>
                    </a:lnTo>
                    <a:cubicBezTo>
                      <a:pt x="4712491" y="0"/>
                      <a:pt x="5095373" y="342564"/>
                      <a:pt x="5095373" y="765150"/>
                    </a:cubicBezTo>
                    <a:lnTo>
                      <a:pt x="5086563" y="765150"/>
                    </a:lnTo>
                    <a:lnTo>
                      <a:pt x="5095373" y="765150"/>
                    </a:lnTo>
                    <a:lnTo>
                      <a:pt x="5095373" y="5001618"/>
                    </a:lnTo>
                    <a:lnTo>
                      <a:pt x="5086563" y="5001618"/>
                    </a:lnTo>
                    <a:lnTo>
                      <a:pt x="5095373" y="5001618"/>
                    </a:lnTo>
                    <a:cubicBezTo>
                      <a:pt x="5095373" y="5424204"/>
                      <a:pt x="4712491" y="5766770"/>
                      <a:pt x="4240231" y="5766770"/>
                    </a:cubicBezTo>
                    <a:lnTo>
                      <a:pt x="4240231" y="5758892"/>
                    </a:lnTo>
                    <a:lnTo>
                      <a:pt x="4240231" y="5766770"/>
                    </a:lnTo>
                    <a:lnTo>
                      <a:pt x="855140" y="5766770"/>
                    </a:lnTo>
                    <a:lnTo>
                      <a:pt x="855140" y="5758892"/>
                    </a:lnTo>
                    <a:lnTo>
                      <a:pt x="855140" y="5766770"/>
                    </a:lnTo>
                    <a:cubicBezTo>
                      <a:pt x="382881" y="5766770"/>
                      <a:pt x="0" y="5424204"/>
                      <a:pt x="0" y="5001618"/>
                    </a:cubicBezTo>
                    <a:lnTo>
                      <a:pt x="0" y="765150"/>
                    </a:lnTo>
                    <a:lnTo>
                      <a:pt x="8809" y="765150"/>
                    </a:lnTo>
                    <a:lnTo>
                      <a:pt x="0" y="765150"/>
                    </a:lnTo>
                    <a:moveTo>
                      <a:pt x="17617" y="765150"/>
                    </a:moveTo>
                    <a:lnTo>
                      <a:pt x="17617" y="5001618"/>
                    </a:lnTo>
                    <a:lnTo>
                      <a:pt x="8809" y="5001618"/>
                    </a:lnTo>
                    <a:lnTo>
                      <a:pt x="17617" y="5001618"/>
                    </a:lnTo>
                    <a:cubicBezTo>
                      <a:pt x="17617" y="5415488"/>
                      <a:pt x="392629" y="5751015"/>
                      <a:pt x="855140" y="5751015"/>
                    </a:cubicBezTo>
                    <a:lnTo>
                      <a:pt x="4240231" y="5751015"/>
                    </a:lnTo>
                    <a:cubicBezTo>
                      <a:pt x="4702742" y="5751015"/>
                      <a:pt x="5077754" y="5415488"/>
                      <a:pt x="5077754" y="5001618"/>
                    </a:cubicBezTo>
                    <a:lnTo>
                      <a:pt x="5077754" y="765150"/>
                    </a:lnTo>
                    <a:cubicBezTo>
                      <a:pt x="5077754" y="351280"/>
                      <a:pt x="4702742" y="15752"/>
                      <a:pt x="4240231" y="15752"/>
                    </a:cubicBezTo>
                    <a:lnTo>
                      <a:pt x="855140" y="15752"/>
                    </a:lnTo>
                    <a:lnTo>
                      <a:pt x="855140" y="7876"/>
                    </a:lnTo>
                    <a:lnTo>
                      <a:pt x="855140" y="15752"/>
                    </a:lnTo>
                    <a:cubicBezTo>
                      <a:pt x="392629" y="15752"/>
                      <a:pt x="17617" y="351280"/>
                      <a:pt x="17617" y="765150"/>
                    </a:cubicBezTo>
                    <a:close/>
                  </a:path>
                </a:pathLst>
              </a:custGeom>
              <a:solidFill>
                <a:srgbClr val="E1E7ED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2082352" y="375288"/>
              <a:ext cx="930656" cy="878510"/>
              <a:chOff x="0" y="0"/>
              <a:chExt cx="930656" cy="87851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30602" cy="878459"/>
              </a:xfrm>
              <a:custGeom>
                <a:avLst/>
                <a:gdLst/>
                <a:ahLst/>
                <a:cxnLst/>
                <a:rect r="r" b="b" t="t" l="l"/>
                <a:pathLst>
                  <a:path h="878459" w="930602">
                    <a:moveTo>
                      <a:pt x="0" y="439293"/>
                    </a:moveTo>
                    <a:cubicBezTo>
                      <a:pt x="0" y="196723"/>
                      <a:pt x="208400" y="0"/>
                      <a:pt x="465368" y="0"/>
                    </a:cubicBezTo>
                    <a:cubicBezTo>
                      <a:pt x="722337" y="0"/>
                      <a:pt x="930602" y="196723"/>
                      <a:pt x="930602" y="439293"/>
                    </a:cubicBezTo>
                    <a:cubicBezTo>
                      <a:pt x="930602" y="681863"/>
                      <a:pt x="722337" y="878459"/>
                      <a:pt x="465368" y="878459"/>
                    </a:cubicBezTo>
                    <a:cubicBezTo>
                      <a:pt x="208400" y="878459"/>
                      <a:pt x="0" y="681863"/>
                      <a:pt x="0" y="439293"/>
                    </a:cubicBezTo>
                    <a:close/>
                  </a:path>
                </a:pathLst>
              </a:custGeom>
              <a:solidFill>
                <a:srgbClr val="2A69A5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2082352" y="421044"/>
              <a:ext cx="930656" cy="786999"/>
              <a:chOff x="0" y="0"/>
              <a:chExt cx="930656" cy="78699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30657" cy="787004"/>
              </a:xfrm>
              <a:custGeom>
                <a:avLst/>
                <a:gdLst/>
                <a:ahLst/>
                <a:cxnLst/>
                <a:rect r="r" b="b" t="t" l="l"/>
                <a:pathLst>
                  <a:path h="787004" w="930657">
                    <a:moveTo>
                      <a:pt x="0" y="0"/>
                    </a:moveTo>
                    <a:lnTo>
                      <a:pt x="930657" y="0"/>
                    </a:lnTo>
                    <a:lnTo>
                      <a:pt x="930657" y="787004"/>
                    </a:lnTo>
                    <a:lnTo>
                      <a:pt x="0" y="78700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61299" t="0" r="-55696" b="1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930656" cy="78699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82"/>
                  </a:lnSpc>
                </a:pPr>
                <a:r>
                  <a:rPr lang="en-US" sz="240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01</a:t>
                </a: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736070" y="1640269"/>
              <a:ext cx="3623220" cy="875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1"/>
                </a:lnSpc>
              </a:pPr>
              <a:r>
                <a:rPr lang="en-US" sz="2501" b="true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Безперервна освіта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70304" y="3046660"/>
              <a:ext cx="4354752" cy="152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Післядипломна освіта, підвищення кваліфікації професійний розвиток.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5400935" y="7930"/>
              <a:ext cx="5095360" cy="5758828"/>
              <a:chOff x="0" y="0"/>
              <a:chExt cx="5095360" cy="5758828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8809" y="7865"/>
                <a:ext cx="5077755" cy="5743107"/>
              </a:xfrm>
              <a:custGeom>
                <a:avLst/>
                <a:gdLst/>
                <a:ahLst/>
                <a:cxnLst/>
                <a:rect r="r" b="b" t="t" l="l"/>
                <a:pathLst>
                  <a:path h="5743107" w="5077755">
                    <a:moveTo>
                      <a:pt x="0" y="756233"/>
                    </a:moveTo>
                    <a:cubicBezTo>
                      <a:pt x="0" y="338632"/>
                      <a:pt x="378887" y="0"/>
                      <a:pt x="846331" y="0"/>
                    </a:cubicBezTo>
                    <a:lnTo>
                      <a:pt x="4231422" y="0"/>
                    </a:lnTo>
                    <a:cubicBezTo>
                      <a:pt x="4698866" y="0"/>
                      <a:pt x="5077754" y="338527"/>
                      <a:pt x="5077754" y="756233"/>
                    </a:cubicBezTo>
                    <a:lnTo>
                      <a:pt x="5077754" y="4986875"/>
                    </a:lnTo>
                    <a:cubicBezTo>
                      <a:pt x="5077754" y="5404581"/>
                      <a:pt x="4698866" y="5743108"/>
                      <a:pt x="4231422" y="5743108"/>
                    </a:cubicBezTo>
                    <a:lnTo>
                      <a:pt x="846331" y="5743108"/>
                    </a:lnTo>
                    <a:cubicBezTo>
                      <a:pt x="378887" y="5743108"/>
                      <a:pt x="0" y="5404581"/>
                      <a:pt x="0" y="4986875"/>
                    </a:cubicBezTo>
                    <a:close/>
                  </a:path>
                </a:pathLst>
              </a:custGeom>
              <a:solidFill>
                <a:srgbClr val="F4F7FA"/>
              </a:solidFill>
            </p:spPr>
          </p:sp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5095373" cy="5758840"/>
              </a:xfrm>
              <a:custGeom>
                <a:avLst/>
                <a:gdLst/>
                <a:ahLst/>
                <a:cxnLst/>
                <a:rect r="r" b="b" t="t" l="l"/>
                <a:pathLst>
                  <a:path h="5758840" w="5095373">
                    <a:moveTo>
                      <a:pt x="0" y="764098"/>
                    </a:moveTo>
                    <a:cubicBezTo>
                      <a:pt x="0" y="342093"/>
                      <a:pt x="382881" y="0"/>
                      <a:pt x="855140" y="0"/>
                    </a:cubicBezTo>
                    <a:lnTo>
                      <a:pt x="4240231" y="0"/>
                    </a:lnTo>
                    <a:lnTo>
                      <a:pt x="4240231" y="7865"/>
                    </a:lnTo>
                    <a:lnTo>
                      <a:pt x="4240231" y="0"/>
                    </a:lnTo>
                    <a:cubicBezTo>
                      <a:pt x="4712491" y="0"/>
                      <a:pt x="5095373" y="342093"/>
                      <a:pt x="5095373" y="764098"/>
                    </a:cubicBezTo>
                    <a:lnTo>
                      <a:pt x="5086563" y="764098"/>
                    </a:lnTo>
                    <a:lnTo>
                      <a:pt x="5095373" y="764098"/>
                    </a:lnTo>
                    <a:lnTo>
                      <a:pt x="5095373" y="4994740"/>
                    </a:lnTo>
                    <a:lnTo>
                      <a:pt x="5086563" y="4994740"/>
                    </a:lnTo>
                    <a:lnTo>
                      <a:pt x="5095373" y="4994740"/>
                    </a:lnTo>
                    <a:cubicBezTo>
                      <a:pt x="5095373" y="5416746"/>
                      <a:pt x="4712491" y="5758840"/>
                      <a:pt x="4240231" y="5758840"/>
                    </a:cubicBezTo>
                    <a:lnTo>
                      <a:pt x="4240231" y="5750973"/>
                    </a:lnTo>
                    <a:lnTo>
                      <a:pt x="4240231" y="5758840"/>
                    </a:lnTo>
                    <a:lnTo>
                      <a:pt x="855140" y="5758840"/>
                    </a:lnTo>
                    <a:lnTo>
                      <a:pt x="855140" y="5750973"/>
                    </a:lnTo>
                    <a:lnTo>
                      <a:pt x="855140" y="5758840"/>
                    </a:lnTo>
                    <a:cubicBezTo>
                      <a:pt x="382881" y="5758840"/>
                      <a:pt x="0" y="5416746"/>
                      <a:pt x="0" y="4994740"/>
                    </a:cubicBezTo>
                    <a:lnTo>
                      <a:pt x="0" y="764098"/>
                    </a:lnTo>
                    <a:lnTo>
                      <a:pt x="8809" y="764098"/>
                    </a:lnTo>
                    <a:lnTo>
                      <a:pt x="0" y="764098"/>
                    </a:lnTo>
                    <a:moveTo>
                      <a:pt x="17617" y="764098"/>
                    </a:moveTo>
                    <a:lnTo>
                      <a:pt x="17617" y="4994740"/>
                    </a:lnTo>
                    <a:lnTo>
                      <a:pt x="8809" y="4994740"/>
                    </a:lnTo>
                    <a:lnTo>
                      <a:pt x="17617" y="4994740"/>
                    </a:lnTo>
                    <a:cubicBezTo>
                      <a:pt x="17617" y="5408041"/>
                      <a:pt x="392629" y="5743107"/>
                      <a:pt x="855140" y="5743107"/>
                    </a:cubicBezTo>
                    <a:lnTo>
                      <a:pt x="4240231" y="5743107"/>
                    </a:lnTo>
                    <a:cubicBezTo>
                      <a:pt x="4702742" y="5743107"/>
                      <a:pt x="5077754" y="5408041"/>
                      <a:pt x="5077754" y="4994740"/>
                    </a:cubicBezTo>
                    <a:lnTo>
                      <a:pt x="5077754" y="764098"/>
                    </a:lnTo>
                    <a:cubicBezTo>
                      <a:pt x="5077754" y="350797"/>
                      <a:pt x="4702742" y="15731"/>
                      <a:pt x="4240231" y="15731"/>
                    </a:cubicBezTo>
                    <a:lnTo>
                      <a:pt x="855140" y="15731"/>
                    </a:lnTo>
                    <a:lnTo>
                      <a:pt x="855140" y="7865"/>
                    </a:lnTo>
                    <a:lnTo>
                      <a:pt x="855140" y="15731"/>
                    </a:lnTo>
                    <a:cubicBezTo>
                      <a:pt x="392629" y="15731"/>
                      <a:pt x="17617" y="350797"/>
                      <a:pt x="17617" y="764098"/>
                    </a:cubicBezTo>
                    <a:close/>
                  </a:path>
                </a:pathLst>
              </a:custGeom>
              <a:solidFill>
                <a:srgbClr val="E1E7ED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7482899" y="421044"/>
              <a:ext cx="930656" cy="878510"/>
              <a:chOff x="0" y="0"/>
              <a:chExt cx="930656" cy="87851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30602" cy="878459"/>
              </a:xfrm>
              <a:custGeom>
                <a:avLst/>
                <a:gdLst/>
                <a:ahLst/>
                <a:cxnLst/>
                <a:rect r="r" b="b" t="t" l="l"/>
                <a:pathLst>
                  <a:path h="878459" w="930602">
                    <a:moveTo>
                      <a:pt x="0" y="439293"/>
                    </a:moveTo>
                    <a:cubicBezTo>
                      <a:pt x="0" y="196723"/>
                      <a:pt x="208400" y="0"/>
                      <a:pt x="465368" y="0"/>
                    </a:cubicBezTo>
                    <a:cubicBezTo>
                      <a:pt x="722337" y="0"/>
                      <a:pt x="930602" y="196723"/>
                      <a:pt x="930602" y="439293"/>
                    </a:cubicBezTo>
                    <a:cubicBezTo>
                      <a:pt x="930602" y="681863"/>
                      <a:pt x="722337" y="878459"/>
                      <a:pt x="465368" y="878459"/>
                    </a:cubicBezTo>
                    <a:cubicBezTo>
                      <a:pt x="208400" y="878459"/>
                      <a:pt x="0" y="681863"/>
                      <a:pt x="0" y="439293"/>
                    </a:cubicBezTo>
                    <a:close/>
                  </a:path>
                </a:pathLst>
              </a:custGeom>
              <a:solidFill>
                <a:srgbClr val="3A9AB4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7482899" y="466799"/>
              <a:ext cx="930656" cy="786999"/>
              <a:chOff x="0" y="0"/>
              <a:chExt cx="930656" cy="78699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30657" cy="787004"/>
              </a:xfrm>
              <a:custGeom>
                <a:avLst/>
                <a:gdLst/>
                <a:ahLst/>
                <a:cxnLst/>
                <a:rect r="r" b="b" t="t" l="l"/>
                <a:pathLst>
                  <a:path h="787004" w="930657">
                    <a:moveTo>
                      <a:pt x="0" y="0"/>
                    </a:moveTo>
                    <a:lnTo>
                      <a:pt x="930657" y="0"/>
                    </a:lnTo>
                    <a:lnTo>
                      <a:pt x="930657" y="787004"/>
                    </a:lnTo>
                    <a:lnTo>
                      <a:pt x="0" y="78700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61299" t="0" r="-55696" b="1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0"/>
                <a:ext cx="930656" cy="78699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82"/>
                  </a:lnSpc>
                </a:pPr>
                <a:r>
                  <a:rPr lang="en-US" sz="240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02</a:t>
                </a: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6136617" y="1640269"/>
              <a:ext cx="3623220" cy="875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1"/>
                </a:lnSpc>
              </a:pPr>
              <a:r>
                <a:rPr lang="en-US" sz="2501" b="true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Цифрова трансформація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5770851" y="3046660"/>
              <a:ext cx="4354752" cy="2046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Онлайн-курси, мультимедійний контент, EdTech та інструменти штучного інтелекту.</a:t>
              </a:r>
            </a:p>
          </p:txBody>
        </p:sp>
        <p:grpSp>
          <p:nvGrpSpPr>
            <p:cNvPr name="Group 30" id="30"/>
            <p:cNvGrpSpPr/>
            <p:nvPr/>
          </p:nvGrpSpPr>
          <p:grpSpPr>
            <a:xfrm rot="0">
              <a:off x="10801095" y="7930"/>
              <a:ext cx="5095360" cy="5714966"/>
              <a:chOff x="0" y="0"/>
              <a:chExt cx="5095360" cy="5714966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8809" y="7805"/>
                <a:ext cx="5077755" cy="5699366"/>
              </a:xfrm>
              <a:custGeom>
                <a:avLst/>
                <a:gdLst/>
                <a:ahLst/>
                <a:cxnLst/>
                <a:rect r="r" b="b" t="t" l="l"/>
                <a:pathLst>
                  <a:path h="5699366" w="5077755">
                    <a:moveTo>
                      <a:pt x="0" y="750473"/>
                    </a:moveTo>
                    <a:cubicBezTo>
                      <a:pt x="0" y="336053"/>
                      <a:pt x="378887" y="0"/>
                      <a:pt x="846331" y="0"/>
                    </a:cubicBezTo>
                    <a:lnTo>
                      <a:pt x="4231422" y="0"/>
                    </a:lnTo>
                    <a:cubicBezTo>
                      <a:pt x="4698866" y="0"/>
                      <a:pt x="5077754" y="335949"/>
                      <a:pt x="5077754" y="750473"/>
                    </a:cubicBezTo>
                    <a:lnTo>
                      <a:pt x="5077754" y="4948894"/>
                    </a:lnTo>
                    <a:cubicBezTo>
                      <a:pt x="5077754" y="5363418"/>
                      <a:pt x="4698866" y="5699366"/>
                      <a:pt x="4231422" y="5699366"/>
                    </a:cubicBezTo>
                    <a:lnTo>
                      <a:pt x="846331" y="5699366"/>
                    </a:lnTo>
                    <a:cubicBezTo>
                      <a:pt x="378887" y="5699366"/>
                      <a:pt x="0" y="5363418"/>
                      <a:pt x="0" y="4948894"/>
                    </a:cubicBezTo>
                    <a:close/>
                  </a:path>
                </a:pathLst>
              </a:custGeom>
              <a:solidFill>
                <a:srgbClr val="F4F7FA"/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5095373" cy="5714979"/>
              </a:xfrm>
              <a:custGeom>
                <a:avLst/>
                <a:gdLst/>
                <a:ahLst/>
                <a:cxnLst/>
                <a:rect r="r" b="b" t="t" l="l"/>
                <a:pathLst>
                  <a:path h="5714979" w="5095373">
                    <a:moveTo>
                      <a:pt x="0" y="758278"/>
                    </a:moveTo>
                    <a:cubicBezTo>
                      <a:pt x="0" y="339487"/>
                      <a:pt x="382881" y="0"/>
                      <a:pt x="855140" y="0"/>
                    </a:cubicBezTo>
                    <a:lnTo>
                      <a:pt x="4240231" y="0"/>
                    </a:lnTo>
                    <a:lnTo>
                      <a:pt x="4240231" y="7805"/>
                    </a:lnTo>
                    <a:lnTo>
                      <a:pt x="4240231" y="0"/>
                    </a:lnTo>
                    <a:cubicBezTo>
                      <a:pt x="4712491" y="0"/>
                      <a:pt x="5095373" y="339487"/>
                      <a:pt x="5095373" y="758278"/>
                    </a:cubicBezTo>
                    <a:lnTo>
                      <a:pt x="5086563" y="758278"/>
                    </a:lnTo>
                    <a:lnTo>
                      <a:pt x="5095373" y="758278"/>
                    </a:lnTo>
                    <a:lnTo>
                      <a:pt x="5095373" y="4956699"/>
                    </a:lnTo>
                    <a:lnTo>
                      <a:pt x="5086563" y="4956699"/>
                    </a:lnTo>
                    <a:lnTo>
                      <a:pt x="5095373" y="4956699"/>
                    </a:lnTo>
                    <a:cubicBezTo>
                      <a:pt x="5095373" y="5375490"/>
                      <a:pt x="4712491" y="5714979"/>
                      <a:pt x="4240231" y="5714979"/>
                    </a:cubicBezTo>
                    <a:lnTo>
                      <a:pt x="4240231" y="5707171"/>
                    </a:lnTo>
                    <a:lnTo>
                      <a:pt x="4240231" y="5714979"/>
                    </a:lnTo>
                    <a:lnTo>
                      <a:pt x="855140" y="5714979"/>
                    </a:lnTo>
                    <a:lnTo>
                      <a:pt x="855140" y="5707171"/>
                    </a:lnTo>
                    <a:lnTo>
                      <a:pt x="855140" y="5714979"/>
                    </a:lnTo>
                    <a:cubicBezTo>
                      <a:pt x="382881" y="5714979"/>
                      <a:pt x="0" y="5375490"/>
                      <a:pt x="0" y="4956699"/>
                    </a:cubicBezTo>
                    <a:lnTo>
                      <a:pt x="0" y="758278"/>
                    </a:lnTo>
                    <a:lnTo>
                      <a:pt x="8809" y="758278"/>
                    </a:lnTo>
                    <a:lnTo>
                      <a:pt x="0" y="758278"/>
                    </a:lnTo>
                    <a:moveTo>
                      <a:pt x="17617" y="758278"/>
                    </a:moveTo>
                    <a:lnTo>
                      <a:pt x="17617" y="4956699"/>
                    </a:lnTo>
                    <a:lnTo>
                      <a:pt x="8809" y="4956699"/>
                    </a:lnTo>
                    <a:lnTo>
                      <a:pt x="17617" y="4956699"/>
                    </a:lnTo>
                    <a:cubicBezTo>
                      <a:pt x="17617" y="5366851"/>
                      <a:pt x="392629" y="5699366"/>
                      <a:pt x="855140" y="5699366"/>
                    </a:cubicBezTo>
                    <a:lnTo>
                      <a:pt x="4240231" y="5699366"/>
                    </a:lnTo>
                    <a:cubicBezTo>
                      <a:pt x="4702742" y="5699366"/>
                      <a:pt x="5077754" y="5366851"/>
                      <a:pt x="5077754" y="4956699"/>
                    </a:cubicBezTo>
                    <a:lnTo>
                      <a:pt x="5077754" y="758278"/>
                    </a:lnTo>
                    <a:cubicBezTo>
                      <a:pt x="5077754" y="348125"/>
                      <a:pt x="4702742" y="15611"/>
                      <a:pt x="4240231" y="15611"/>
                    </a:cubicBezTo>
                    <a:lnTo>
                      <a:pt x="855140" y="15611"/>
                    </a:lnTo>
                    <a:lnTo>
                      <a:pt x="855140" y="7805"/>
                    </a:lnTo>
                    <a:lnTo>
                      <a:pt x="855140" y="15611"/>
                    </a:lnTo>
                    <a:cubicBezTo>
                      <a:pt x="392629" y="15611"/>
                      <a:pt x="17617" y="348125"/>
                      <a:pt x="17617" y="758278"/>
                    </a:cubicBezTo>
                    <a:close/>
                  </a:path>
                </a:pathLst>
              </a:custGeom>
              <a:solidFill>
                <a:srgbClr val="E1E7ED"/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12883447" y="421044"/>
              <a:ext cx="930656" cy="878510"/>
              <a:chOff x="0" y="0"/>
              <a:chExt cx="930656" cy="87851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930602" cy="878459"/>
              </a:xfrm>
              <a:custGeom>
                <a:avLst/>
                <a:gdLst/>
                <a:ahLst/>
                <a:cxnLst/>
                <a:rect r="r" b="b" t="t" l="l"/>
                <a:pathLst>
                  <a:path h="878459" w="930602">
                    <a:moveTo>
                      <a:pt x="0" y="439293"/>
                    </a:moveTo>
                    <a:cubicBezTo>
                      <a:pt x="0" y="196723"/>
                      <a:pt x="208400" y="0"/>
                      <a:pt x="465368" y="0"/>
                    </a:cubicBezTo>
                    <a:cubicBezTo>
                      <a:pt x="722337" y="0"/>
                      <a:pt x="930602" y="196723"/>
                      <a:pt x="930602" y="439293"/>
                    </a:cubicBezTo>
                    <a:cubicBezTo>
                      <a:pt x="930602" y="681863"/>
                      <a:pt x="722337" y="878459"/>
                      <a:pt x="465368" y="878459"/>
                    </a:cubicBezTo>
                    <a:cubicBezTo>
                      <a:pt x="208400" y="878459"/>
                      <a:pt x="0" y="681863"/>
                      <a:pt x="0" y="439293"/>
                    </a:cubicBezTo>
                    <a:close/>
                  </a:path>
                </a:pathLst>
              </a:custGeom>
              <a:solidFill>
                <a:srgbClr val="DAA541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12883447" y="466799"/>
              <a:ext cx="930656" cy="786999"/>
              <a:chOff x="0" y="0"/>
              <a:chExt cx="930656" cy="786999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930657" cy="787004"/>
              </a:xfrm>
              <a:custGeom>
                <a:avLst/>
                <a:gdLst/>
                <a:ahLst/>
                <a:cxnLst/>
                <a:rect r="r" b="b" t="t" l="l"/>
                <a:pathLst>
                  <a:path h="787004" w="930657">
                    <a:moveTo>
                      <a:pt x="0" y="0"/>
                    </a:moveTo>
                    <a:lnTo>
                      <a:pt x="930657" y="0"/>
                    </a:lnTo>
                    <a:lnTo>
                      <a:pt x="930657" y="787004"/>
                    </a:lnTo>
                    <a:lnTo>
                      <a:pt x="0" y="78700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61299" t="0" r="-55696" b="1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0"/>
                <a:ext cx="930656" cy="78699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82"/>
                  </a:lnSpc>
                </a:pPr>
                <a:r>
                  <a:rPr lang="en-US" sz="240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03</a:t>
                </a: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1537165" y="1849819"/>
              <a:ext cx="3623220" cy="456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1"/>
                </a:lnSpc>
              </a:pPr>
              <a:r>
                <a:rPr lang="en-US" sz="2501" b="true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Інновація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1430141" y="3046660"/>
              <a:ext cx="3838043" cy="2046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Стартапи, підприємницькі компетентності та трансфер знань.</a:t>
              </a:r>
            </a:p>
          </p:txBody>
        </p:sp>
        <p:grpSp>
          <p:nvGrpSpPr>
            <p:cNvPr name="Group 40" id="40"/>
            <p:cNvGrpSpPr/>
            <p:nvPr/>
          </p:nvGrpSpPr>
          <p:grpSpPr>
            <a:xfrm rot="0">
              <a:off x="16202030" y="7930"/>
              <a:ext cx="5095360" cy="5758828"/>
              <a:chOff x="0" y="0"/>
              <a:chExt cx="5095360" cy="5758828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8809" y="7865"/>
                <a:ext cx="5077755" cy="5743107"/>
              </a:xfrm>
              <a:custGeom>
                <a:avLst/>
                <a:gdLst/>
                <a:ahLst/>
                <a:cxnLst/>
                <a:rect r="r" b="b" t="t" l="l"/>
                <a:pathLst>
                  <a:path h="5743107" w="5077755">
                    <a:moveTo>
                      <a:pt x="0" y="756233"/>
                    </a:moveTo>
                    <a:cubicBezTo>
                      <a:pt x="0" y="338632"/>
                      <a:pt x="378887" y="0"/>
                      <a:pt x="846331" y="0"/>
                    </a:cubicBezTo>
                    <a:lnTo>
                      <a:pt x="4231422" y="0"/>
                    </a:lnTo>
                    <a:cubicBezTo>
                      <a:pt x="4698866" y="0"/>
                      <a:pt x="5077754" y="338527"/>
                      <a:pt x="5077754" y="756233"/>
                    </a:cubicBezTo>
                    <a:lnTo>
                      <a:pt x="5077754" y="4986875"/>
                    </a:lnTo>
                    <a:cubicBezTo>
                      <a:pt x="5077754" y="5404581"/>
                      <a:pt x="4698866" y="5743108"/>
                      <a:pt x="4231422" y="5743108"/>
                    </a:cubicBezTo>
                    <a:lnTo>
                      <a:pt x="846331" y="5743108"/>
                    </a:lnTo>
                    <a:cubicBezTo>
                      <a:pt x="378887" y="5743108"/>
                      <a:pt x="0" y="5404581"/>
                      <a:pt x="0" y="4986875"/>
                    </a:cubicBezTo>
                    <a:close/>
                  </a:path>
                </a:pathLst>
              </a:custGeom>
              <a:solidFill>
                <a:srgbClr val="F4F7FA"/>
              </a:solidFill>
            </p:spPr>
          </p:sp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5095373" cy="5758840"/>
              </a:xfrm>
              <a:custGeom>
                <a:avLst/>
                <a:gdLst/>
                <a:ahLst/>
                <a:cxnLst/>
                <a:rect r="r" b="b" t="t" l="l"/>
                <a:pathLst>
                  <a:path h="5758840" w="5095373">
                    <a:moveTo>
                      <a:pt x="0" y="764098"/>
                    </a:moveTo>
                    <a:cubicBezTo>
                      <a:pt x="0" y="342093"/>
                      <a:pt x="382881" y="0"/>
                      <a:pt x="855140" y="0"/>
                    </a:cubicBezTo>
                    <a:lnTo>
                      <a:pt x="4240231" y="0"/>
                    </a:lnTo>
                    <a:lnTo>
                      <a:pt x="4240231" y="7865"/>
                    </a:lnTo>
                    <a:lnTo>
                      <a:pt x="4240231" y="0"/>
                    </a:lnTo>
                    <a:cubicBezTo>
                      <a:pt x="4712491" y="0"/>
                      <a:pt x="5095373" y="342093"/>
                      <a:pt x="5095373" y="764098"/>
                    </a:cubicBezTo>
                    <a:lnTo>
                      <a:pt x="5086563" y="764098"/>
                    </a:lnTo>
                    <a:lnTo>
                      <a:pt x="5095373" y="764098"/>
                    </a:lnTo>
                    <a:lnTo>
                      <a:pt x="5095373" y="4994740"/>
                    </a:lnTo>
                    <a:lnTo>
                      <a:pt x="5086563" y="4994740"/>
                    </a:lnTo>
                    <a:lnTo>
                      <a:pt x="5095373" y="4994740"/>
                    </a:lnTo>
                    <a:cubicBezTo>
                      <a:pt x="5095373" y="5416746"/>
                      <a:pt x="4712491" y="5758840"/>
                      <a:pt x="4240231" y="5758840"/>
                    </a:cubicBezTo>
                    <a:lnTo>
                      <a:pt x="4240231" y="5750973"/>
                    </a:lnTo>
                    <a:lnTo>
                      <a:pt x="4240231" y="5758840"/>
                    </a:lnTo>
                    <a:lnTo>
                      <a:pt x="855140" y="5758840"/>
                    </a:lnTo>
                    <a:lnTo>
                      <a:pt x="855140" y="5750973"/>
                    </a:lnTo>
                    <a:lnTo>
                      <a:pt x="855140" y="5758840"/>
                    </a:lnTo>
                    <a:cubicBezTo>
                      <a:pt x="382881" y="5758840"/>
                      <a:pt x="0" y="5416746"/>
                      <a:pt x="0" y="4994740"/>
                    </a:cubicBezTo>
                    <a:lnTo>
                      <a:pt x="0" y="764098"/>
                    </a:lnTo>
                    <a:lnTo>
                      <a:pt x="8809" y="764098"/>
                    </a:lnTo>
                    <a:lnTo>
                      <a:pt x="0" y="764098"/>
                    </a:lnTo>
                    <a:moveTo>
                      <a:pt x="17617" y="764098"/>
                    </a:moveTo>
                    <a:lnTo>
                      <a:pt x="17617" y="4994740"/>
                    </a:lnTo>
                    <a:lnTo>
                      <a:pt x="8809" y="4994740"/>
                    </a:lnTo>
                    <a:lnTo>
                      <a:pt x="17617" y="4994740"/>
                    </a:lnTo>
                    <a:cubicBezTo>
                      <a:pt x="17617" y="5408041"/>
                      <a:pt x="392629" y="5743107"/>
                      <a:pt x="855140" y="5743107"/>
                    </a:cubicBezTo>
                    <a:lnTo>
                      <a:pt x="4240231" y="5743107"/>
                    </a:lnTo>
                    <a:cubicBezTo>
                      <a:pt x="4702742" y="5743107"/>
                      <a:pt x="5077754" y="5408041"/>
                      <a:pt x="5077754" y="4994740"/>
                    </a:cubicBezTo>
                    <a:lnTo>
                      <a:pt x="5077754" y="764098"/>
                    </a:lnTo>
                    <a:cubicBezTo>
                      <a:pt x="5077754" y="350797"/>
                      <a:pt x="4702742" y="15731"/>
                      <a:pt x="4240231" y="15731"/>
                    </a:cubicBezTo>
                    <a:lnTo>
                      <a:pt x="855140" y="15731"/>
                    </a:lnTo>
                    <a:lnTo>
                      <a:pt x="855140" y="7865"/>
                    </a:lnTo>
                    <a:lnTo>
                      <a:pt x="855140" y="15731"/>
                    </a:lnTo>
                    <a:cubicBezTo>
                      <a:pt x="392629" y="15731"/>
                      <a:pt x="17617" y="350797"/>
                      <a:pt x="17617" y="764098"/>
                    </a:cubicBezTo>
                    <a:close/>
                  </a:path>
                </a:pathLst>
              </a:custGeom>
              <a:solidFill>
                <a:srgbClr val="E1E7ED"/>
              </a:solidFill>
            </p:spPr>
          </p:sp>
        </p:grpSp>
        <p:grpSp>
          <p:nvGrpSpPr>
            <p:cNvPr name="Group 43" id="43"/>
            <p:cNvGrpSpPr/>
            <p:nvPr/>
          </p:nvGrpSpPr>
          <p:grpSpPr>
            <a:xfrm rot="0">
              <a:off x="18284382" y="466799"/>
              <a:ext cx="930656" cy="878510"/>
              <a:chOff x="0" y="0"/>
              <a:chExt cx="930656" cy="87851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930602" cy="878459"/>
              </a:xfrm>
              <a:custGeom>
                <a:avLst/>
                <a:gdLst/>
                <a:ahLst/>
                <a:cxnLst/>
                <a:rect r="r" b="b" t="t" l="l"/>
                <a:pathLst>
                  <a:path h="878459" w="930602">
                    <a:moveTo>
                      <a:pt x="0" y="439293"/>
                    </a:moveTo>
                    <a:cubicBezTo>
                      <a:pt x="0" y="196723"/>
                      <a:pt x="208400" y="0"/>
                      <a:pt x="465368" y="0"/>
                    </a:cubicBezTo>
                    <a:cubicBezTo>
                      <a:pt x="722337" y="0"/>
                      <a:pt x="930602" y="196723"/>
                      <a:pt x="930602" y="439293"/>
                    </a:cubicBezTo>
                    <a:cubicBezTo>
                      <a:pt x="930602" y="681863"/>
                      <a:pt x="722337" y="878459"/>
                      <a:pt x="465368" y="878459"/>
                    </a:cubicBezTo>
                    <a:cubicBezTo>
                      <a:pt x="208400" y="878459"/>
                      <a:pt x="0" y="681863"/>
                      <a:pt x="0" y="439293"/>
                    </a:cubicBezTo>
                    <a:close/>
                  </a:path>
                </a:pathLst>
              </a:custGeom>
              <a:solidFill>
                <a:srgbClr val="458967"/>
              </a:solidFill>
            </p:spPr>
          </p:sp>
        </p:grpSp>
        <p:grpSp>
          <p:nvGrpSpPr>
            <p:cNvPr name="Group 45" id="45"/>
            <p:cNvGrpSpPr/>
            <p:nvPr/>
          </p:nvGrpSpPr>
          <p:grpSpPr>
            <a:xfrm rot="0">
              <a:off x="18284382" y="466799"/>
              <a:ext cx="930656" cy="786999"/>
              <a:chOff x="0" y="0"/>
              <a:chExt cx="930656" cy="786999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30657" cy="787004"/>
              </a:xfrm>
              <a:custGeom>
                <a:avLst/>
                <a:gdLst/>
                <a:ahLst/>
                <a:cxnLst/>
                <a:rect r="r" b="b" t="t" l="l"/>
                <a:pathLst>
                  <a:path h="787004" w="930657">
                    <a:moveTo>
                      <a:pt x="0" y="0"/>
                    </a:moveTo>
                    <a:lnTo>
                      <a:pt x="930657" y="0"/>
                    </a:lnTo>
                    <a:lnTo>
                      <a:pt x="930657" y="787004"/>
                    </a:lnTo>
                    <a:lnTo>
                      <a:pt x="0" y="78700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61299" t="0" r="-55696" b="1"/>
                </a:stretch>
              </a:blip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0"/>
                <a:ext cx="930656" cy="78699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82"/>
                  </a:lnSpc>
                </a:pPr>
                <a:r>
                  <a:rPr lang="en-US" sz="240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04</a:t>
                </a: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16938100" y="1849819"/>
              <a:ext cx="3623220" cy="456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1"/>
                </a:lnSpc>
              </a:pPr>
              <a:r>
                <a:rPr lang="en-US" sz="2501" b="true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Партнерство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16638674" y="3046660"/>
              <a:ext cx="4354752" cy="152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Бізнес, держава, громади та громадський сектор.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23325" y="1482271"/>
            <a:ext cx="984134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Структура: три центри - єдина система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457662" y="2306461"/>
            <a:ext cx="1372676" cy="75495"/>
            <a:chOff x="0" y="0"/>
            <a:chExt cx="1830235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0197" cy="100711"/>
            </a:xfrm>
            <a:custGeom>
              <a:avLst/>
              <a:gdLst/>
              <a:ahLst/>
              <a:cxnLst/>
              <a:rect r="r" b="b" t="t" l="l"/>
              <a:pathLst>
                <a:path h="10071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863879" y="2843641"/>
            <a:ext cx="4560242" cy="4756115"/>
            <a:chOff x="0" y="0"/>
            <a:chExt cx="6080323" cy="634148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080323" cy="6341486"/>
              <a:chOff x="0" y="0"/>
              <a:chExt cx="6080323" cy="634148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10511" y="13146"/>
                <a:ext cx="6059314" cy="6315141"/>
              </a:xfrm>
              <a:custGeom>
                <a:avLst/>
                <a:gdLst/>
                <a:ahLst/>
                <a:cxnLst/>
                <a:rect r="r" b="b" t="t" l="l"/>
                <a:pathLst>
                  <a:path h="6315141" w="6059314">
                    <a:moveTo>
                      <a:pt x="0" y="1052582"/>
                    </a:moveTo>
                    <a:cubicBezTo>
                      <a:pt x="0" y="471340"/>
                      <a:pt x="377008" y="0"/>
                      <a:pt x="842171" y="0"/>
                    </a:cubicBezTo>
                    <a:lnTo>
                      <a:pt x="5217144" y="0"/>
                    </a:lnTo>
                    <a:cubicBezTo>
                      <a:pt x="5682307" y="0"/>
                      <a:pt x="6059315" y="471164"/>
                      <a:pt x="6059315" y="1052582"/>
                    </a:cubicBezTo>
                    <a:lnTo>
                      <a:pt x="6059315" y="5262559"/>
                    </a:lnTo>
                    <a:cubicBezTo>
                      <a:pt x="6059315" y="5843802"/>
                      <a:pt x="5682307" y="6315141"/>
                      <a:pt x="5217144" y="6315141"/>
                    </a:cubicBezTo>
                    <a:lnTo>
                      <a:pt x="842171" y="6315141"/>
                    </a:lnTo>
                    <a:cubicBezTo>
                      <a:pt x="377008" y="6315141"/>
                      <a:pt x="0" y="5843977"/>
                      <a:pt x="0" y="5262559"/>
                    </a:cubicBezTo>
                    <a:close/>
                  </a:path>
                </a:pathLst>
              </a:custGeom>
              <a:solidFill>
                <a:srgbClr val="F4F7FA"/>
              </a:solidFill>
            </p:spPr>
          </p:sp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080336" cy="6341433"/>
              </a:xfrm>
              <a:custGeom>
                <a:avLst/>
                <a:gdLst/>
                <a:ahLst/>
                <a:cxnLst/>
                <a:rect r="r" b="b" t="t" l="l"/>
                <a:pathLst>
                  <a:path h="6341433" w="6080336">
                    <a:moveTo>
                      <a:pt x="0" y="1065728"/>
                    </a:moveTo>
                    <a:cubicBezTo>
                      <a:pt x="0" y="477124"/>
                      <a:pt x="381773" y="0"/>
                      <a:pt x="852682" y="0"/>
                    </a:cubicBezTo>
                    <a:lnTo>
                      <a:pt x="5227655" y="0"/>
                    </a:lnTo>
                    <a:lnTo>
                      <a:pt x="5227655" y="13146"/>
                    </a:lnTo>
                    <a:lnTo>
                      <a:pt x="5227655" y="0"/>
                    </a:lnTo>
                    <a:cubicBezTo>
                      <a:pt x="5698564" y="0"/>
                      <a:pt x="6080336" y="477124"/>
                      <a:pt x="6080336" y="1065728"/>
                    </a:cubicBezTo>
                    <a:lnTo>
                      <a:pt x="6069826" y="1065728"/>
                    </a:lnTo>
                    <a:lnTo>
                      <a:pt x="6080336" y="1065728"/>
                    </a:lnTo>
                    <a:lnTo>
                      <a:pt x="6080336" y="5275705"/>
                    </a:lnTo>
                    <a:lnTo>
                      <a:pt x="6069826" y="5275705"/>
                    </a:lnTo>
                    <a:lnTo>
                      <a:pt x="6080336" y="5275705"/>
                    </a:lnTo>
                    <a:cubicBezTo>
                      <a:pt x="6080336" y="5864310"/>
                      <a:pt x="5698564" y="6341433"/>
                      <a:pt x="5227655" y="6341433"/>
                    </a:cubicBezTo>
                    <a:lnTo>
                      <a:pt x="5227655" y="6328287"/>
                    </a:lnTo>
                    <a:lnTo>
                      <a:pt x="5227655" y="6341433"/>
                    </a:lnTo>
                    <a:lnTo>
                      <a:pt x="852682" y="6341433"/>
                    </a:lnTo>
                    <a:lnTo>
                      <a:pt x="852682" y="6328287"/>
                    </a:lnTo>
                    <a:lnTo>
                      <a:pt x="852682" y="6341433"/>
                    </a:lnTo>
                    <a:cubicBezTo>
                      <a:pt x="381773" y="6341433"/>
                      <a:pt x="0" y="5864310"/>
                      <a:pt x="0" y="5275705"/>
                    </a:cubicBezTo>
                    <a:lnTo>
                      <a:pt x="0" y="1065728"/>
                    </a:lnTo>
                    <a:lnTo>
                      <a:pt x="10511" y="1065728"/>
                    </a:lnTo>
                    <a:lnTo>
                      <a:pt x="0" y="1065728"/>
                    </a:lnTo>
                    <a:moveTo>
                      <a:pt x="21023" y="1065728"/>
                    </a:moveTo>
                    <a:lnTo>
                      <a:pt x="21023" y="5275705"/>
                    </a:lnTo>
                    <a:lnTo>
                      <a:pt x="10511" y="5275705"/>
                    </a:lnTo>
                    <a:lnTo>
                      <a:pt x="21023" y="5275705"/>
                    </a:lnTo>
                    <a:cubicBezTo>
                      <a:pt x="21023" y="5849762"/>
                      <a:pt x="393406" y="6315141"/>
                      <a:pt x="852682" y="6315141"/>
                    </a:cubicBezTo>
                    <a:lnTo>
                      <a:pt x="5227655" y="6315141"/>
                    </a:lnTo>
                    <a:cubicBezTo>
                      <a:pt x="5686932" y="6315141"/>
                      <a:pt x="6059314" y="5849762"/>
                      <a:pt x="6059314" y="5275705"/>
                    </a:cubicBezTo>
                    <a:lnTo>
                      <a:pt x="6059314" y="1065728"/>
                    </a:lnTo>
                    <a:cubicBezTo>
                      <a:pt x="6059314" y="491672"/>
                      <a:pt x="5686932" y="26293"/>
                      <a:pt x="5227655" y="26293"/>
                    </a:cubicBezTo>
                    <a:lnTo>
                      <a:pt x="852682" y="26293"/>
                    </a:lnTo>
                    <a:lnTo>
                      <a:pt x="852682" y="13146"/>
                    </a:lnTo>
                    <a:lnTo>
                      <a:pt x="852682" y="26293"/>
                    </a:lnTo>
                    <a:cubicBezTo>
                      <a:pt x="393406" y="26293"/>
                      <a:pt x="21023" y="491672"/>
                      <a:pt x="21023" y="1065728"/>
                    </a:cubicBezTo>
                    <a:close/>
                  </a:path>
                </a:pathLst>
              </a:custGeom>
              <a:solidFill>
                <a:srgbClr val="E1E7ED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2600907" y="454770"/>
              <a:ext cx="878510" cy="878510"/>
              <a:chOff x="0" y="0"/>
              <a:chExt cx="878510" cy="87851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78459" cy="878459"/>
              </a:xfrm>
              <a:custGeom>
                <a:avLst/>
                <a:gdLst/>
                <a:ahLst/>
                <a:cxnLst/>
                <a:rect r="r" b="b" t="t" l="l"/>
                <a:pathLst>
                  <a:path h="878459" w="878459">
                    <a:moveTo>
                      <a:pt x="0" y="439293"/>
                    </a:moveTo>
                    <a:cubicBezTo>
                      <a:pt x="0" y="196723"/>
                      <a:pt x="196723" y="0"/>
                      <a:pt x="439293" y="0"/>
                    </a:cubicBezTo>
                    <a:cubicBezTo>
                      <a:pt x="681863" y="0"/>
                      <a:pt x="878459" y="196723"/>
                      <a:pt x="878459" y="439293"/>
                    </a:cubicBezTo>
                    <a:cubicBezTo>
                      <a:pt x="878459" y="681863"/>
                      <a:pt x="681863" y="878459"/>
                      <a:pt x="439293" y="878459"/>
                    </a:cubicBezTo>
                    <a:cubicBezTo>
                      <a:pt x="196723" y="878459"/>
                      <a:pt x="0" y="681863"/>
                      <a:pt x="0" y="439293"/>
                    </a:cubicBezTo>
                    <a:close/>
                  </a:path>
                </a:pathLst>
              </a:custGeom>
              <a:solidFill>
                <a:srgbClr val="DAA541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2600907" y="500528"/>
              <a:ext cx="878510" cy="786999"/>
              <a:chOff x="0" y="0"/>
              <a:chExt cx="878510" cy="78699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78510" cy="787004"/>
              </a:xfrm>
              <a:custGeom>
                <a:avLst/>
                <a:gdLst/>
                <a:ahLst/>
                <a:cxnLst/>
                <a:rect r="r" b="b" t="t" l="l"/>
                <a:pathLst>
                  <a:path h="787004" w="878510">
                    <a:moveTo>
                      <a:pt x="0" y="0"/>
                    </a:moveTo>
                    <a:lnTo>
                      <a:pt x="878510" y="0"/>
                    </a:lnTo>
                    <a:lnTo>
                      <a:pt x="878510" y="787004"/>
                    </a:lnTo>
                    <a:lnTo>
                      <a:pt x="0" y="78700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64937" t="0" r="-64937" b="1"/>
                </a:stretch>
              </a:blip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0"/>
                <a:ext cx="878510" cy="78699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82"/>
                  </a:lnSpc>
                </a:pPr>
                <a:r>
                  <a:rPr lang="en-US" sz="240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2</a:t>
                </a: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652726" y="1603338"/>
              <a:ext cx="4774871" cy="13472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Центр моніторингу,</a:t>
              </a:r>
            </a:p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аналітики та розвитку</a:t>
              </a:r>
            </a:p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освітніх екосистем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874297" y="3170743"/>
              <a:ext cx="4331729" cy="2286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6569" indent="-248284" lvl="1">
                <a:lnSpc>
                  <a:spcPts val="27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trike="noStrike" u="none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Реєстри</a:t>
              </a:r>
            </a:p>
            <a:p>
              <a:pPr algn="l" marL="496569" indent="-248284" lvl="1">
                <a:lnSpc>
                  <a:spcPts val="27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trike="noStrike" u="none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Ринок праці</a:t>
              </a:r>
            </a:p>
            <a:p>
              <a:pPr algn="l" marL="496569" indent="-248284" lvl="1">
                <a:lnSpc>
                  <a:spcPts val="27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trike="noStrike" u="none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Якість</a:t>
              </a:r>
            </a:p>
            <a:p>
              <a:pPr algn="l" marL="496569" indent="-248284" lvl="1">
                <a:lnSpc>
                  <a:spcPts val="27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trike="noStrike" u="none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Прогнозування</a:t>
              </a:r>
            </a:p>
            <a:p>
              <a:pPr algn="l" marL="496569" indent="-248284" lvl="1">
                <a:lnSpc>
                  <a:spcPts val="27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trike="noStrike" u="none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Рекомендації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93551" y="8247455"/>
            <a:ext cx="15671482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2"/>
              </a:lnSpc>
            </a:pPr>
            <a:r>
              <a:rPr lang="en-US" sz="2501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Єдиний цикл: </a:t>
            </a:r>
          </a:p>
          <a:p>
            <a:pPr algn="ctr">
              <a:lnSpc>
                <a:spcPts val="3002"/>
              </a:lnSpc>
            </a:pPr>
            <a:r>
              <a:rPr lang="en-US" sz="2501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виявити потребу → створити програму → масштабувати → виміряти результат → удосконалити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00773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319471" y="2843641"/>
            <a:ext cx="4573806" cy="4756115"/>
            <a:chOff x="0" y="0"/>
            <a:chExt cx="6098408" cy="6341486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098408" cy="6341486"/>
              <a:chOff x="0" y="0"/>
              <a:chExt cx="6098408" cy="634148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10543" y="13146"/>
                <a:ext cx="6077337" cy="6315141"/>
              </a:xfrm>
              <a:custGeom>
                <a:avLst/>
                <a:gdLst/>
                <a:ahLst/>
                <a:cxnLst/>
                <a:rect r="r" b="b" t="t" l="l"/>
                <a:pathLst>
                  <a:path h="6315141" w="6077337">
                    <a:moveTo>
                      <a:pt x="0" y="1052582"/>
                    </a:moveTo>
                    <a:cubicBezTo>
                      <a:pt x="0" y="471340"/>
                      <a:pt x="378129" y="0"/>
                      <a:pt x="844676" y="0"/>
                    </a:cubicBezTo>
                    <a:lnTo>
                      <a:pt x="5232661" y="0"/>
                    </a:lnTo>
                    <a:cubicBezTo>
                      <a:pt x="5699207" y="0"/>
                      <a:pt x="6077336" y="471164"/>
                      <a:pt x="6077336" y="1052582"/>
                    </a:cubicBezTo>
                    <a:lnTo>
                      <a:pt x="6077336" y="5262559"/>
                    </a:lnTo>
                    <a:cubicBezTo>
                      <a:pt x="6077336" y="5843802"/>
                      <a:pt x="5699207" y="6315141"/>
                      <a:pt x="5232661" y="6315141"/>
                    </a:cubicBezTo>
                    <a:lnTo>
                      <a:pt x="844676" y="6315141"/>
                    </a:lnTo>
                    <a:cubicBezTo>
                      <a:pt x="378129" y="6315141"/>
                      <a:pt x="0" y="5843977"/>
                      <a:pt x="0" y="5262559"/>
                    </a:cubicBezTo>
                    <a:close/>
                  </a:path>
                </a:pathLst>
              </a:custGeom>
              <a:solidFill>
                <a:srgbClr val="F4F7FA"/>
              </a:solid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098420" cy="6341433"/>
              </a:xfrm>
              <a:custGeom>
                <a:avLst/>
                <a:gdLst/>
                <a:ahLst/>
                <a:cxnLst/>
                <a:rect r="r" b="b" t="t" l="l"/>
                <a:pathLst>
                  <a:path h="6341433" w="6098420">
                    <a:moveTo>
                      <a:pt x="0" y="1065728"/>
                    </a:moveTo>
                    <a:cubicBezTo>
                      <a:pt x="0" y="477124"/>
                      <a:pt x="382908" y="0"/>
                      <a:pt x="855219" y="0"/>
                    </a:cubicBezTo>
                    <a:lnTo>
                      <a:pt x="5243204" y="0"/>
                    </a:lnTo>
                    <a:lnTo>
                      <a:pt x="5243204" y="13146"/>
                    </a:lnTo>
                    <a:lnTo>
                      <a:pt x="5243204" y="0"/>
                    </a:lnTo>
                    <a:cubicBezTo>
                      <a:pt x="5715514" y="0"/>
                      <a:pt x="6098420" y="477124"/>
                      <a:pt x="6098420" y="1065728"/>
                    </a:cubicBezTo>
                    <a:lnTo>
                      <a:pt x="6087879" y="1065728"/>
                    </a:lnTo>
                    <a:lnTo>
                      <a:pt x="6098420" y="1065728"/>
                    </a:lnTo>
                    <a:lnTo>
                      <a:pt x="6098420" y="5275705"/>
                    </a:lnTo>
                    <a:lnTo>
                      <a:pt x="6087879" y="5275705"/>
                    </a:lnTo>
                    <a:lnTo>
                      <a:pt x="6098420" y="5275705"/>
                    </a:lnTo>
                    <a:cubicBezTo>
                      <a:pt x="6098420" y="5864310"/>
                      <a:pt x="5715514" y="6341433"/>
                      <a:pt x="5243204" y="6341433"/>
                    </a:cubicBezTo>
                    <a:lnTo>
                      <a:pt x="5243204" y="6328287"/>
                    </a:lnTo>
                    <a:lnTo>
                      <a:pt x="5243204" y="6341433"/>
                    </a:lnTo>
                    <a:lnTo>
                      <a:pt x="855219" y="6341433"/>
                    </a:lnTo>
                    <a:lnTo>
                      <a:pt x="855219" y="6328287"/>
                    </a:lnTo>
                    <a:lnTo>
                      <a:pt x="855219" y="6341433"/>
                    </a:lnTo>
                    <a:cubicBezTo>
                      <a:pt x="382908" y="6341433"/>
                      <a:pt x="0" y="5864310"/>
                      <a:pt x="0" y="5275705"/>
                    </a:cubicBezTo>
                    <a:lnTo>
                      <a:pt x="0" y="1065728"/>
                    </a:lnTo>
                    <a:lnTo>
                      <a:pt x="10543" y="1065728"/>
                    </a:lnTo>
                    <a:lnTo>
                      <a:pt x="0" y="1065728"/>
                    </a:lnTo>
                    <a:moveTo>
                      <a:pt x="21085" y="1065728"/>
                    </a:moveTo>
                    <a:lnTo>
                      <a:pt x="21085" y="5275705"/>
                    </a:lnTo>
                    <a:lnTo>
                      <a:pt x="10543" y="5275705"/>
                    </a:lnTo>
                    <a:lnTo>
                      <a:pt x="21085" y="5275705"/>
                    </a:lnTo>
                    <a:cubicBezTo>
                      <a:pt x="21085" y="5849762"/>
                      <a:pt x="394576" y="6315141"/>
                      <a:pt x="855219" y="6315141"/>
                    </a:cubicBezTo>
                    <a:lnTo>
                      <a:pt x="5243204" y="6315141"/>
                    </a:lnTo>
                    <a:cubicBezTo>
                      <a:pt x="5703846" y="6315141"/>
                      <a:pt x="6077337" y="5849762"/>
                      <a:pt x="6077337" y="5275705"/>
                    </a:cubicBezTo>
                    <a:lnTo>
                      <a:pt x="6077337" y="1065728"/>
                    </a:lnTo>
                    <a:cubicBezTo>
                      <a:pt x="6077337" y="491672"/>
                      <a:pt x="5703846" y="26293"/>
                      <a:pt x="5243204" y="26293"/>
                    </a:cubicBezTo>
                    <a:lnTo>
                      <a:pt x="855219" y="26293"/>
                    </a:lnTo>
                    <a:lnTo>
                      <a:pt x="855219" y="13146"/>
                    </a:lnTo>
                    <a:lnTo>
                      <a:pt x="855219" y="26293"/>
                    </a:lnTo>
                    <a:cubicBezTo>
                      <a:pt x="394576" y="26293"/>
                      <a:pt x="21085" y="491672"/>
                      <a:pt x="21085" y="1065728"/>
                    </a:cubicBezTo>
                    <a:close/>
                  </a:path>
                </a:pathLst>
              </a:custGeom>
              <a:solidFill>
                <a:srgbClr val="E1E7ED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2609949" y="454770"/>
              <a:ext cx="878510" cy="878510"/>
              <a:chOff x="0" y="0"/>
              <a:chExt cx="878510" cy="87851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78459" cy="878459"/>
              </a:xfrm>
              <a:custGeom>
                <a:avLst/>
                <a:gdLst/>
                <a:ahLst/>
                <a:cxnLst/>
                <a:rect r="r" b="b" t="t" l="l"/>
                <a:pathLst>
                  <a:path h="878459" w="878459">
                    <a:moveTo>
                      <a:pt x="0" y="439293"/>
                    </a:moveTo>
                    <a:cubicBezTo>
                      <a:pt x="0" y="196723"/>
                      <a:pt x="196723" y="0"/>
                      <a:pt x="439293" y="0"/>
                    </a:cubicBezTo>
                    <a:cubicBezTo>
                      <a:pt x="681863" y="0"/>
                      <a:pt x="878459" y="196723"/>
                      <a:pt x="878459" y="439293"/>
                    </a:cubicBezTo>
                    <a:cubicBezTo>
                      <a:pt x="878459" y="681863"/>
                      <a:pt x="681863" y="878459"/>
                      <a:pt x="439293" y="878459"/>
                    </a:cubicBezTo>
                    <a:cubicBezTo>
                      <a:pt x="196723" y="878459"/>
                      <a:pt x="0" y="681863"/>
                      <a:pt x="0" y="439293"/>
                    </a:cubicBezTo>
                    <a:close/>
                  </a:path>
                </a:pathLst>
              </a:custGeom>
              <a:solidFill>
                <a:srgbClr val="3A9AB4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2609949" y="500528"/>
              <a:ext cx="878510" cy="786999"/>
              <a:chOff x="0" y="0"/>
              <a:chExt cx="878510" cy="78699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78510" cy="787004"/>
              </a:xfrm>
              <a:custGeom>
                <a:avLst/>
                <a:gdLst/>
                <a:ahLst/>
                <a:cxnLst/>
                <a:rect r="r" b="b" t="t" l="l"/>
                <a:pathLst>
                  <a:path h="787004" w="878510">
                    <a:moveTo>
                      <a:pt x="0" y="0"/>
                    </a:moveTo>
                    <a:lnTo>
                      <a:pt x="878510" y="0"/>
                    </a:lnTo>
                    <a:lnTo>
                      <a:pt x="878510" y="787004"/>
                    </a:lnTo>
                    <a:lnTo>
                      <a:pt x="0" y="78700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64937" t="0" r="-64937" b="1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0"/>
                <a:ext cx="878510" cy="78699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82"/>
                  </a:lnSpc>
                </a:pPr>
                <a:r>
                  <a:rPr lang="en-US" sz="240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3</a:t>
                </a: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884902" y="2810896"/>
              <a:ext cx="4331729" cy="2743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6569" indent="-248284" lvl="1">
                <a:lnSpc>
                  <a:spcPts val="27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trike="noStrike" u="none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Онлайн-курси </a:t>
              </a:r>
            </a:p>
            <a:p>
              <a:pPr algn="l" marL="496569" indent="-248284" lvl="1">
                <a:lnSpc>
                  <a:spcPts val="27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trike="noStrike" u="none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Цифрове середовище </a:t>
              </a:r>
            </a:p>
            <a:p>
              <a:pPr algn="l" marL="496569" indent="-248284" lvl="1">
                <a:lnSpc>
                  <a:spcPts val="27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trike="noStrike" u="none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Мультимедіа</a:t>
              </a:r>
            </a:p>
            <a:p>
              <a:pPr algn="l" marL="496569" indent="-248284" lvl="1">
                <a:lnSpc>
                  <a:spcPts val="27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trike="noStrike" u="none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ШІ</a:t>
              </a:r>
            </a:p>
            <a:p>
              <a:pPr algn="l" marL="496569" indent="-248284" lvl="1">
                <a:lnSpc>
                  <a:spcPts val="27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trike="noStrike" u="none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EdTech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661769" y="1603338"/>
              <a:ext cx="4774871" cy="928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Центр 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цифр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о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вої 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о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св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іти</a:t>
              </a:r>
            </a:p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та освітніх 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е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хн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о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логій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93551" y="2843641"/>
            <a:ext cx="4573806" cy="4756115"/>
            <a:chOff x="0" y="0"/>
            <a:chExt cx="6098408" cy="6341486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6098408" cy="6341486"/>
              <a:chOff x="0" y="0"/>
              <a:chExt cx="6098408" cy="6341486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10543" y="13146"/>
                <a:ext cx="6077337" cy="6315141"/>
              </a:xfrm>
              <a:custGeom>
                <a:avLst/>
                <a:gdLst/>
                <a:ahLst/>
                <a:cxnLst/>
                <a:rect r="r" b="b" t="t" l="l"/>
                <a:pathLst>
                  <a:path h="6315141" w="6077337">
                    <a:moveTo>
                      <a:pt x="0" y="1052582"/>
                    </a:moveTo>
                    <a:cubicBezTo>
                      <a:pt x="0" y="471340"/>
                      <a:pt x="378129" y="0"/>
                      <a:pt x="844676" y="0"/>
                    </a:cubicBezTo>
                    <a:lnTo>
                      <a:pt x="5232661" y="0"/>
                    </a:lnTo>
                    <a:cubicBezTo>
                      <a:pt x="5699207" y="0"/>
                      <a:pt x="6077336" y="471164"/>
                      <a:pt x="6077336" y="1052582"/>
                    </a:cubicBezTo>
                    <a:lnTo>
                      <a:pt x="6077336" y="5262559"/>
                    </a:lnTo>
                    <a:cubicBezTo>
                      <a:pt x="6077336" y="5843802"/>
                      <a:pt x="5699207" y="6315141"/>
                      <a:pt x="5232661" y="6315141"/>
                    </a:cubicBezTo>
                    <a:lnTo>
                      <a:pt x="844676" y="6315141"/>
                    </a:lnTo>
                    <a:cubicBezTo>
                      <a:pt x="378129" y="6315141"/>
                      <a:pt x="0" y="5843977"/>
                      <a:pt x="0" y="5262559"/>
                    </a:cubicBezTo>
                    <a:close/>
                  </a:path>
                </a:pathLst>
              </a:custGeom>
              <a:solidFill>
                <a:srgbClr val="F4F7FA"/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098420" cy="6341433"/>
              </a:xfrm>
              <a:custGeom>
                <a:avLst/>
                <a:gdLst/>
                <a:ahLst/>
                <a:cxnLst/>
                <a:rect r="r" b="b" t="t" l="l"/>
                <a:pathLst>
                  <a:path h="6341433" w="6098420">
                    <a:moveTo>
                      <a:pt x="0" y="1065728"/>
                    </a:moveTo>
                    <a:cubicBezTo>
                      <a:pt x="0" y="477124"/>
                      <a:pt x="382908" y="0"/>
                      <a:pt x="855219" y="0"/>
                    </a:cubicBezTo>
                    <a:lnTo>
                      <a:pt x="5243204" y="0"/>
                    </a:lnTo>
                    <a:lnTo>
                      <a:pt x="5243204" y="13146"/>
                    </a:lnTo>
                    <a:lnTo>
                      <a:pt x="5243204" y="0"/>
                    </a:lnTo>
                    <a:cubicBezTo>
                      <a:pt x="5715514" y="0"/>
                      <a:pt x="6098420" y="477124"/>
                      <a:pt x="6098420" y="1065728"/>
                    </a:cubicBezTo>
                    <a:lnTo>
                      <a:pt x="6087879" y="1065728"/>
                    </a:lnTo>
                    <a:lnTo>
                      <a:pt x="6098420" y="1065728"/>
                    </a:lnTo>
                    <a:lnTo>
                      <a:pt x="6098420" y="5275705"/>
                    </a:lnTo>
                    <a:lnTo>
                      <a:pt x="6087879" y="5275705"/>
                    </a:lnTo>
                    <a:lnTo>
                      <a:pt x="6098420" y="5275705"/>
                    </a:lnTo>
                    <a:cubicBezTo>
                      <a:pt x="6098420" y="5864310"/>
                      <a:pt x="5715514" y="6341433"/>
                      <a:pt x="5243204" y="6341433"/>
                    </a:cubicBezTo>
                    <a:lnTo>
                      <a:pt x="5243204" y="6328287"/>
                    </a:lnTo>
                    <a:lnTo>
                      <a:pt x="5243204" y="6341433"/>
                    </a:lnTo>
                    <a:lnTo>
                      <a:pt x="855219" y="6341433"/>
                    </a:lnTo>
                    <a:lnTo>
                      <a:pt x="855219" y="6328287"/>
                    </a:lnTo>
                    <a:lnTo>
                      <a:pt x="855219" y="6341433"/>
                    </a:lnTo>
                    <a:cubicBezTo>
                      <a:pt x="382908" y="6341433"/>
                      <a:pt x="0" y="5864310"/>
                      <a:pt x="0" y="5275705"/>
                    </a:cubicBezTo>
                    <a:lnTo>
                      <a:pt x="0" y="1065728"/>
                    </a:lnTo>
                    <a:lnTo>
                      <a:pt x="10543" y="1065728"/>
                    </a:lnTo>
                    <a:lnTo>
                      <a:pt x="0" y="1065728"/>
                    </a:lnTo>
                    <a:moveTo>
                      <a:pt x="21085" y="1065728"/>
                    </a:moveTo>
                    <a:lnTo>
                      <a:pt x="21085" y="5275705"/>
                    </a:lnTo>
                    <a:lnTo>
                      <a:pt x="10543" y="5275705"/>
                    </a:lnTo>
                    <a:lnTo>
                      <a:pt x="21085" y="5275705"/>
                    </a:lnTo>
                    <a:cubicBezTo>
                      <a:pt x="21085" y="5849762"/>
                      <a:pt x="394576" y="6315141"/>
                      <a:pt x="855219" y="6315141"/>
                    </a:cubicBezTo>
                    <a:lnTo>
                      <a:pt x="5243204" y="6315141"/>
                    </a:lnTo>
                    <a:cubicBezTo>
                      <a:pt x="5703846" y="6315141"/>
                      <a:pt x="6077337" y="5849762"/>
                      <a:pt x="6077337" y="5275705"/>
                    </a:cubicBezTo>
                    <a:lnTo>
                      <a:pt x="6077337" y="1065728"/>
                    </a:lnTo>
                    <a:cubicBezTo>
                      <a:pt x="6077337" y="491672"/>
                      <a:pt x="5703846" y="26293"/>
                      <a:pt x="5243204" y="26293"/>
                    </a:cubicBezTo>
                    <a:lnTo>
                      <a:pt x="855219" y="26293"/>
                    </a:lnTo>
                    <a:lnTo>
                      <a:pt x="855219" y="13146"/>
                    </a:lnTo>
                    <a:lnTo>
                      <a:pt x="855219" y="26293"/>
                    </a:lnTo>
                    <a:cubicBezTo>
                      <a:pt x="394576" y="26293"/>
                      <a:pt x="21085" y="491672"/>
                      <a:pt x="21085" y="1065728"/>
                    </a:cubicBezTo>
                    <a:close/>
                  </a:path>
                </a:pathLst>
              </a:custGeom>
              <a:solidFill>
                <a:srgbClr val="E1E7ED"/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2609949" y="454770"/>
              <a:ext cx="878510" cy="878510"/>
              <a:chOff x="0" y="0"/>
              <a:chExt cx="878510" cy="87851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78459" cy="878459"/>
              </a:xfrm>
              <a:custGeom>
                <a:avLst/>
                <a:gdLst/>
                <a:ahLst/>
                <a:cxnLst/>
                <a:rect r="r" b="b" t="t" l="l"/>
                <a:pathLst>
                  <a:path h="878459" w="878459">
                    <a:moveTo>
                      <a:pt x="0" y="439293"/>
                    </a:moveTo>
                    <a:cubicBezTo>
                      <a:pt x="0" y="196723"/>
                      <a:pt x="196723" y="0"/>
                      <a:pt x="439293" y="0"/>
                    </a:cubicBezTo>
                    <a:cubicBezTo>
                      <a:pt x="681863" y="0"/>
                      <a:pt x="878459" y="196723"/>
                      <a:pt x="878459" y="439293"/>
                    </a:cubicBezTo>
                    <a:cubicBezTo>
                      <a:pt x="878459" y="681863"/>
                      <a:pt x="681863" y="878459"/>
                      <a:pt x="439293" y="878459"/>
                    </a:cubicBezTo>
                    <a:cubicBezTo>
                      <a:pt x="196723" y="878459"/>
                      <a:pt x="0" y="681863"/>
                      <a:pt x="0" y="439293"/>
                    </a:cubicBezTo>
                    <a:close/>
                  </a:path>
                </a:pathLst>
              </a:custGeom>
              <a:solidFill>
                <a:srgbClr val="2A69A5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2609949" y="500528"/>
              <a:ext cx="878510" cy="786994"/>
              <a:chOff x="0" y="0"/>
              <a:chExt cx="878510" cy="786994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78510" cy="786999"/>
              </a:xfrm>
              <a:custGeom>
                <a:avLst/>
                <a:gdLst/>
                <a:ahLst/>
                <a:cxnLst/>
                <a:rect r="r" b="b" t="t" l="l"/>
                <a:pathLst>
                  <a:path h="786999" w="878510">
                    <a:moveTo>
                      <a:pt x="0" y="0"/>
                    </a:moveTo>
                    <a:lnTo>
                      <a:pt x="878510" y="0"/>
                    </a:lnTo>
                    <a:lnTo>
                      <a:pt x="878510" y="786999"/>
                    </a:lnTo>
                    <a:lnTo>
                      <a:pt x="0" y="786999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64937" t="0" r="-64937" b="0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0"/>
                <a:ext cx="878510" cy="78699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82"/>
                  </a:lnSpc>
                </a:pPr>
                <a:r>
                  <a:rPr lang="en-US" sz="240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1</a:t>
                </a: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883340" y="3170743"/>
              <a:ext cx="4331729" cy="2743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6569" indent="-24828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Навчання дорослих </a:t>
              </a:r>
            </a:p>
            <a:p>
              <a:pPr algn="l" marL="496569" indent="-24828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Підвищення кваліфікації </a:t>
              </a:r>
            </a:p>
            <a:p>
              <a:pPr algn="l" marL="496569" indent="-24828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Перекваліфікація </a:t>
              </a:r>
            </a:p>
            <a:p>
              <a:pPr algn="l" marL="496569" indent="-24828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Сертифікатні програми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661769" y="1636515"/>
              <a:ext cx="4774871" cy="13472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Центр розви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тку</a:t>
              </a:r>
            </a:p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безпе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р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ер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в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н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ої та неформал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ьн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о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ї осв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і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ти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59882"/>
            <a:ext cx="1360988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Центр розвитку безперервної та неформальної освіти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869507"/>
            <a:ext cx="1372676" cy="75495"/>
            <a:chOff x="0" y="0"/>
            <a:chExt cx="1830235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0197" cy="100711"/>
            </a:xfrm>
            <a:custGeom>
              <a:avLst/>
              <a:gdLst/>
              <a:ahLst/>
              <a:cxnLst/>
              <a:rect r="r" b="b" t="t" l="l"/>
              <a:pathLst>
                <a:path h="10071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2048611"/>
            <a:ext cx="256246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DAA541"/>
                </a:solidFill>
                <a:latin typeface="Aptos Bold"/>
                <a:ea typeface="Aptos Bold"/>
                <a:cs typeface="Aptos Bold"/>
                <a:sym typeface="Aptos Bold"/>
              </a:rPr>
              <a:t>СОЦІАЛЬНА МІСІЯ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453982"/>
            <a:ext cx="16014659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Надати</a:t>
            </a:r>
            <a:r>
              <a:rPr lang="en-US" sz="2499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 людині можливість навчатися, змінювати професійний напрям і залишатися конкурентоспроможною протягом усього життя.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3719" y="3682707"/>
            <a:ext cx="5093189" cy="3912996"/>
            <a:chOff x="0" y="0"/>
            <a:chExt cx="6790919" cy="52173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9525" y="11503"/>
              <a:ext cx="6771894" cy="5194383"/>
            </a:xfrm>
            <a:custGeom>
              <a:avLst/>
              <a:gdLst/>
              <a:ahLst/>
              <a:cxnLst/>
              <a:rect r="r" b="b" t="t" l="l"/>
              <a:pathLst>
                <a:path h="5194383" w="6771894">
                  <a:moveTo>
                    <a:pt x="0" y="865807"/>
                  </a:moveTo>
                  <a:cubicBezTo>
                    <a:pt x="0" y="387581"/>
                    <a:pt x="321437" y="0"/>
                    <a:pt x="718058" y="0"/>
                  </a:cubicBezTo>
                  <a:lnTo>
                    <a:pt x="6053836" y="0"/>
                  </a:lnTo>
                  <a:cubicBezTo>
                    <a:pt x="6450330" y="0"/>
                    <a:pt x="6771894" y="387581"/>
                    <a:pt x="6771894" y="865807"/>
                  </a:cubicBezTo>
                  <a:lnTo>
                    <a:pt x="6771894" y="4328576"/>
                  </a:lnTo>
                  <a:cubicBezTo>
                    <a:pt x="6771894" y="4806649"/>
                    <a:pt x="6450457" y="5194383"/>
                    <a:pt x="6053836" y="5194383"/>
                  </a:cubicBezTo>
                  <a:lnTo>
                    <a:pt x="718058" y="5194383"/>
                  </a:lnTo>
                  <a:cubicBezTo>
                    <a:pt x="321437" y="5194383"/>
                    <a:pt x="0" y="4806649"/>
                    <a:pt x="0" y="4328576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90944" cy="5217379"/>
            </a:xfrm>
            <a:custGeom>
              <a:avLst/>
              <a:gdLst/>
              <a:ahLst/>
              <a:cxnLst/>
              <a:rect r="r" b="b" t="t" l="l"/>
              <a:pathLst>
                <a:path h="5217379" w="6790944">
                  <a:moveTo>
                    <a:pt x="0" y="877310"/>
                  </a:moveTo>
                  <a:cubicBezTo>
                    <a:pt x="0" y="392796"/>
                    <a:pt x="325755" y="0"/>
                    <a:pt x="727583" y="0"/>
                  </a:cubicBezTo>
                  <a:lnTo>
                    <a:pt x="6063361" y="0"/>
                  </a:lnTo>
                  <a:lnTo>
                    <a:pt x="6063361" y="11503"/>
                  </a:lnTo>
                  <a:lnTo>
                    <a:pt x="6063361" y="0"/>
                  </a:lnTo>
                  <a:cubicBezTo>
                    <a:pt x="6465189" y="0"/>
                    <a:pt x="6790944" y="392796"/>
                    <a:pt x="6790944" y="877310"/>
                  </a:cubicBezTo>
                  <a:lnTo>
                    <a:pt x="6781419" y="877310"/>
                  </a:lnTo>
                  <a:lnTo>
                    <a:pt x="6790944" y="877310"/>
                  </a:lnTo>
                  <a:lnTo>
                    <a:pt x="6790944" y="4340079"/>
                  </a:lnTo>
                  <a:lnTo>
                    <a:pt x="6781419" y="4340079"/>
                  </a:lnTo>
                  <a:lnTo>
                    <a:pt x="6790944" y="4340079"/>
                  </a:lnTo>
                  <a:cubicBezTo>
                    <a:pt x="6790944" y="4824593"/>
                    <a:pt x="6465189" y="5217379"/>
                    <a:pt x="6063361" y="5217379"/>
                  </a:cubicBezTo>
                  <a:lnTo>
                    <a:pt x="6063361" y="5205886"/>
                  </a:lnTo>
                  <a:lnTo>
                    <a:pt x="6063361" y="5217379"/>
                  </a:lnTo>
                  <a:lnTo>
                    <a:pt x="727583" y="5217379"/>
                  </a:lnTo>
                  <a:lnTo>
                    <a:pt x="727583" y="5205886"/>
                  </a:lnTo>
                  <a:lnTo>
                    <a:pt x="727583" y="5217379"/>
                  </a:lnTo>
                  <a:cubicBezTo>
                    <a:pt x="325755" y="5217379"/>
                    <a:pt x="0" y="4824593"/>
                    <a:pt x="0" y="4340079"/>
                  </a:cubicBezTo>
                  <a:lnTo>
                    <a:pt x="0" y="877310"/>
                  </a:lnTo>
                  <a:lnTo>
                    <a:pt x="9525" y="877310"/>
                  </a:lnTo>
                  <a:lnTo>
                    <a:pt x="0" y="877310"/>
                  </a:lnTo>
                  <a:moveTo>
                    <a:pt x="19050" y="877310"/>
                  </a:moveTo>
                  <a:lnTo>
                    <a:pt x="19050" y="4340079"/>
                  </a:lnTo>
                  <a:lnTo>
                    <a:pt x="9525" y="4340079"/>
                  </a:lnTo>
                  <a:lnTo>
                    <a:pt x="19050" y="4340079"/>
                  </a:lnTo>
                  <a:cubicBezTo>
                    <a:pt x="19050" y="4811863"/>
                    <a:pt x="336169" y="5194229"/>
                    <a:pt x="727583" y="5194229"/>
                  </a:cubicBezTo>
                  <a:lnTo>
                    <a:pt x="6063361" y="5194229"/>
                  </a:lnTo>
                  <a:cubicBezTo>
                    <a:pt x="6454648" y="5194229"/>
                    <a:pt x="6771894" y="4811710"/>
                    <a:pt x="6771894" y="4340079"/>
                  </a:cubicBezTo>
                  <a:lnTo>
                    <a:pt x="6771894" y="877310"/>
                  </a:lnTo>
                  <a:cubicBezTo>
                    <a:pt x="6771894" y="405526"/>
                    <a:pt x="6454775" y="23160"/>
                    <a:pt x="6063361" y="23160"/>
                  </a:cubicBezTo>
                  <a:lnTo>
                    <a:pt x="727583" y="23160"/>
                  </a:lnTo>
                  <a:lnTo>
                    <a:pt x="727583" y="11503"/>
                  </a:lnTo>
                  <a:lnTo>
                    <a:pt x="727583" y="23006"/>
                  </a:lnTo>
                  <a:cubicBezTo>
                    <a:pt x="336296" y="23006"/>
                    <a:pt x="19050" y="405526"/>
                    <a:pt x="19050" y="877310"/>
                  </a:cubicBezTo>
                  <a:close/>
                </a:path>
              </a:pathLst>
            </a:custGeom>
            <a:solidFill>
              <a:srgbClr val="E1E7E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9209" y="4146861"/>
            <a:ext cx="658882" cy="658882"/>
            <a:chOff x="0" y="0"/>
            <a:chExt cx="878510" cy="8785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2A69A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9209" y="4181180"/>
            <a:ext cx="658882" cy="590245"/>
            <a:chOff x="0" y="0"/>
            <a:chExt cx="878510" cy="7869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8510" cy="786999"/>
            </a:xfrm>
            <a:custGeom>
              <a:avLst/>
              <a:gdLst/>
              <a:ahLst/>
              <a:cxnLst/>
              <a:rect r="r" b="b" t="t" l="l"/>
              <a:pathLst>
                <a:path h="786999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937" t="0" r="-6493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78510" cy="825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●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424989" y="4057179"/>
            <a:ext cx="3550787" cy="87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1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Освітні</a:t>
            </a:r>
          </a:p>
          <a:p>
            <a:pPr algn="l">
              <a:lnSpc>
                <a:spcPts val="3001"/>
              </a:lnSpc>
            </a:pPr>
            <a:r>
              <a:rPr lang="en-US" sz="3001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продукти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0936" y="5156359"/>
            <a:ext cx="4209669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Короткострокові, модульні та сертифікатні програми, післядипломна освіта.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81680" y="3682707"/>
            <a:ext cx="5093189" cy="3912996"/>
            <a:chOff x="0" y="0"/>
            <a:chExt cx="6790919" cy="52173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9525" y="11503"/>
              <a:ext cx="6771894" cy="5194383"/>
            </a:xfrm>
            <a:custGeom>
              <a:avLst/>
              <a:gdLst/>
              <a:ahLst/>
              <a:cxnLst/>
              <a:rect r="r" b="b" t="t" l="l"/>
              <a:pathLst>
                <a:path h="5194383" w="6771894">
                  <a:moveTo>
                    <a:pt x="0" y="865807"/>
                  </a:moveTo>
                  <a:cubicBezTo>
                    <a:pt x="0" y="387581"/>
                    <a:pt x="321437" y="0"/>
                    <a:pt x="718058" y="0"/>
                  </a:cubicBezTo>
                  <a:lnTo>
                    <a:pt x="6053836" y="0"/>
                  </a:lnTo>
                  <a:cubicBezTo>
                    <a:pt x="6450330" y="0"/>
                    <a:pt x="6771894" y="387581"/>
                    <a:pt x="6771894" y="865807"/>
                  </a:cubicBezTo>
                  <a:lnTo>
                    <a:pt x="6771894" y="4328576"/>
                  </a:lnTo>
                  <a:cubicBezTo>
                    <a:pt x="6771894" y="4806649"/>
                    <a:pt x="6450457" y="5194383"/>
                    <a:pt x="6053836" y="5194383"/>
                  </a:cubicBezTo>
                  <a:lnTo>
                    <a:pt x="718058" y="5194383"/>
                  </a:lnTo>
                  <a:cubicBezTo>
                    <a:pt x="321437" y="5194383"/>
                    <a:pt x="0" y="4806649"/>
                    <a:pt x="0" y="4328576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90944" cy="5217379"/>
            </a:xfrm>
            <a:custGeom>
              <a:avLst/>
              <a:gdLst/>
              <a:ahLst/>
              <a:cxnLst/>
              <a:rect r="r" b="b" t="t" l="l"/>
              <a:pathLst>
                <a:path h="5217379" w="6790944">
                  <a:moveTo>
                    <a:pt x="0" y="877310"/>
                  </a:moveTo>
                  <a:cubicBezTo>
                    <a:pt x="0" y="392796"/>
                    <a:pt x="325755" y="0"/>
                    <a:pt x="727583" y="0"/>
                  </a:cubicBezTo>
                  <a:lnTo>
                    <a:pt x="6063361" y="0"/>
                  </a:lnTo>
                  <a:lnTo>
                    <a:pt x="6063361" y="11503"/>
                  </a:lnTo>
                  <a:lnTo>
                    <a:pt x="6063361" y="0"/>
                  </a:lnTo>
                  <a:cubicBezTo>
                    <a:pt x="6465189" y="0"/>
                    <a:pt x="6790944" y="392796"/>
                    <a:pt x="6790944" y="877310"/>
                  </a:cubicBezTo>
                  <a:lnTo>
                    <a:pt x="6781419" y="877310"/>
                  </a:lnTo>
                  <a:lnTo>
                    <a:pt x="6790944" y="877310"/>
                  </a:lnTo>
                  <a:lnTo>
                    <a:pt x="6790944" y="4340079"/>
                  </a:lnTo>
                  <a:lnTo>
                    <a:pt x="6781419" y="4340079"/>
                  </a:lnTo>
                  <a:lnTo>
                    <a:pt x="6790944" y="4340079"/>
                  </a:lnTo>
                  <a:cubicBezTo>
                    <a:pt x="6790944" y="4824593"/>
                    <a:pt x="6465189" y="5217379"/>
                    <a:pt x="6063361" y="5217379"/>
                  </a:cubicBezTo>
                  <a:lnTo>
                    <a:pt x="6063361" y="5205886"/>
                  </a:lnTo>
                  <a:lnTo>
                    <a:pt x="6063361" y="5217379"/>
                  </a:lnTo>
                  <a:lnTo>
                    <a:pt x="727583" y="5217379"/>
                  </a:lnTo>
                  <a:lnTo>
                    <a:pt x="727583" y="5205886"/>
                  </a:lnTo>
                  <a:lnTo>
                    <a:pt x="727583" y="5217379"/>
                  </a:lnTo>
                  <a:cubicBezTo>
                    <a:pt x="325755" y="5217379"/>
                    <a:pt x="0" y="4824593"/>
                    <a:pt x="0" y="4340079"/>
                  </a:cubicBezTo>
                  <a:lnTo>
                    <a:pt x="0" y="877310"/>
                  </a:lnTo>
                  <a:lnTo>
                    <a:pt x="9525" y="877310"/>
                  </a:lnTo>
                  <a:lnTo>
                    <a:pt x="0" y="877310"/>
                  </a:lnTo>
                  <a:moveTo>
                    <a:pt x="19050" y="877310"/>
                  </a:moveTo>
                  <a:lnTo>
                    <a:pt x="19050" y="4340079"/>
                  </a:lnTo>
                  <a:lnTo>
                    <a:pt x="9525" y="4340079"/>
                  </a:lnTo>
                  <a:lnTo>
                    <a:pt x="19050" y="4340079"/>
                  </a:lnTo>
                  <a:cubicBezTo>
                    <a:pt x="19050" y="4811863"/>
                    <a:pt x="336169" y="5194229"/>
                    <a:pt x="727583" y="5194229"/>
                  </a:cubicBezTo>
                  <a:lnTo>
                    <a:pt x="6063361" y="5194229"/>
                  </a:lnTo>
                  <a:cubicBezTo>
                    <a:pt x="6454648" y="5194229"/>
                    <a:pt x="6771894" y="4811710"/>
                    <a:pt x="6771894" y="4340079"/>
                  </a:cubicBezTo>
                  <a:lnTo>
                    <a:pt x="6771894" y="877310"/>
                  </a:lnTo>
                  <a:cubicBezTo>
                    <a:pt x="6771894" y="405526"/>
                    <a:pt x="6454775" y="23160"/>
                    <a:pt x="6063361" y="23160"/>
                  </a:cubicBezTo>
                  <a:lnTo>
                    <a:pt x="727583" y="23160"/>
                  </a:lnTo>
                  <a:lnTo>
                    <a:pt x="727583" y="11503"/>
                  </a:lnTo>
                  <a:lnTo>
                    <a:pt x="727583" y="23006"/>
                  </a:lnTo>
                  <a:cubicBezTo>
                    <a:pt x="336296" y="23006"/>
                    <a:pt x="19050" y="405526"/>
                    <a:pt x="19050" y="877310"/>
                  </a:cubicBezTo>
                  <a:close/>
                </a:path>
              </a:pathLst>
            </a:custGeom>
            <a:solidFill>
              <a:srgbClr val="E1E7E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039166" y="4105680"/>
            <a:ext cx="658882" cy="658882"/>
            <a:chOff x="0" y="0"/>
            <a:chExt cx="878510" cy="8785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3A9AB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039166" y="4105680"/>
            <a:ext cx="658882" cy="590245"/>
            <a:chOff x="0" y="0"/>
            <a:chExt cx="878510" cy="7869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78510" cy="786999"/>
            </a:xfrm>
            <a:custGeom>
              <a:avLst/>
              <a:gdLst/>
              <a:ahLst/>
              <a:cxnLst/>
              <a:rect r="r" b="b" t="t" l="l"/>
              <a:pathLst>
                <a:path h="786999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937" t="0" r="-64937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78510" cy="825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●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964967" y="4095291"/>
            <a:ext cx="3550787" cy="7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1"/>
              </a:lnSpc>
              <a:spcBef>
                <a:spcPct val="0"/>
              </a:spcBef>
            </a:pPr>
            <a:r>
              <a:rPr lang="en-US" b="true" sz="3001" strike="noStrike" u="non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Професійна мобільність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39166" y="5156359"/>
            <a:ext cx="4209669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Підвищення кваліфікації,  стажування та професійний розвиток.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209631" y="3682707"/>
            <a:ext cx="5093189" cy="3912996"/>
            <a:chOff x="0" y="0"/>
            <a:chExt cx="6790919" cy="52173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9525" y="11503"/>
              <a:ext cx="6771894" cy="5194383"/>
            </a:xfrm>
            <a:custGeom>
              <a:avLst/>
              <a:gdLst/>
              <a:ahLst/>
              <a:cxnLst/>
              <a:rect r="r" b="b" t="t" l="l"/>
              <a:pathLst>
                <a:path h="5194383" w="6771894">
                  <a:moveTo>
                    <a:pt x="0" y="865807"/>
                  </a:moveTo>
                  <a:cubicBezTo>
                    <a:pt x="0" y="387581"/>
                    <a:pt x="321437" y="0"/>
                    <a:pt x="718058" y="0"/>
                  </a:cubicBezTo>
                  <a:lnTo>
                    <a:pt x="6053836" y="0"/>
                  </a:lnTo>
                  <a:cubicBezTo>
                    <a:pt x="6450330" y="0"/>
                    <a:pt x="6771894" y="387581"/>
                    <a:pt x="6771894" y="865807"/>
                  </a:cubicBezTo>
                  <a:lnTo>
                    <a:pt x="6771894" y="4328576"/>
                  </a:lnTo>
                  <a:cubicBezTo>
                    <a:pt x="6771894" y="4806649"/>
                    <a:pt x="6450457" y="5194383"/>
                    <a:pt x="6053836" y="5194383"/>
                  </a:cubicBezTo>
                  <a:lnTo>
                    <a:pt x="718058" y="5194383"/>
                  </a:lnTo>
                  <a:cubicBezTo>
                    <a:pt x="321437" y="5194383"/>
                    <a:pt x="0" y="4806649"/>
                    <a:pt x="0" y="4328576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90944" cy="5217379"/>
            </a:xfrm>
            <a:custGeom>
              <a:avLst/>
              <a:gdLst/>
              <a:ahLst/>
              <a:cxnLst/>
              <a:rect r="r" b="b" t="t" l="l"/>
              <a:pathLst>
                <a:path h="5217379" w="6790944">
                  <a:moveTo>
                    <a:pt x="0" y="877310"/>
                  </a:moveTo>
                  <a:cubicBezTo>
                    <a:pt x="0" y="392796"/>
                    <a:pt x="325755" y="0"/>
                    <a:pt x="727583" y="0"/>
                  </a:cubicBezTo>
                  <a:lnTo>
                    <a:pt x="6063361" y="0"/>
                  </a:lnTo>
                  <a:lnTo>
                    <a:pt x="6063361" y="11503"/>
                  </a:lnTo>
                  <a:lnTo>
                    <a:pt x="6063361" y="0"/>
                  </a:lnTo>
                  <a:cubicBezTo>
                    <a:pt x="6465189" y="0"/>
                    <a:pt x="6790944" y="392796"/>
                    <a:pt x="6790944" y="877310"/>
                  </a:cubicBezTo>
                  <a:lnTo>
                    <a:pt x="6781419" y="877310"/>
                  </a:lnTo>
                  <a:lnTo>
                    <a:pt x="6790944" y="877310"/>
                  </a:lnTo>
                  <a:lnTo>
                    <a:pt x="6790944" y="4340079"/>
                  </a:lnTo>
                  <a:lnTo>
                    <a:pt x="6781419" y="4340079"/>
                  </a:lnTo>
                  <a:lnTo>
                    <a:pt x="6790944" y="4340079"/>
                  </a:lnTo>
                  <a:cubicBezTo>
                    <a:pt x="6790944" y="4824593"/>
                    <a:pt x="6465189" y="5217379"/>
                    <a:pt x="6063361" y="5217379"/>
                  </a:cubicBezTo>
                  <a:lnTo>
                    <a:pt x="6063361" y="5205886"/>
                  </a:lnTo>
                  <a:lnTo>
                    <a:pt x="6063361" y="5217379"/>
                  </a:lnTo>
                  <a:lnTo>
                    <a:pt x="727583" y="5217379"/>
                  </a:lnTo>
                  <a:lnTo>
                    <a:pt x="727583" y="5205886"/>
                  </a:lnTo>
                  <a:lnTo>
                    <a:pt x="727583" y="5217379"/>
                  </a:lnTo>
                  <a:cubicBezTo>
                    <a:pt x="325755" y="5217379"/>
                    <a:pt x="0" y="4824593"/>
                    <a:pt x="0" y="4340079"/>
                  </a:cubicBezTo>
                  <a:lnTo>
                    <a:pt x="0" y="877310"/>
                  </a:lnTo>
                  <a:lnTo>
                    <a:pt x="9525" y="877310"/>
                  </a:lnTo>
                  <a:lnTo>
                    <a:pt x="0" y="877310"/>
                  </a:lnTo>
                  <a:moveTo>
                    <a:pt x="19050" y="877310"/>
                  </a:moveTo>
                  <a:lnTo>
                    <a:pt x="19050" y="4340079"/>
                  </a:lnTo>
                  <a:lnTo>
                    <a:pt x="9525" y="4340079"/>
                  </a:lnTo>
                  <a:lnTo>
                    <a:pt x="19050" y="4340079"/>
                  </a:lnTo>
                  <a:cubicBezTo>
                    <a:pt x="19050" y="4811863"/>
                    <a:pt x="336169" y="5194229"/>
                    <a:pt x="727583" y="5194229"/>
                  </a:cubicBezTo>
                  <a:lnTo>
                    <a:pt x="6063361" y="5194229"/>
                  </a:lnTo>
                  <a:cubicBezTo>
                    <a:pt x="6454648" y="5194229"/>
                    <a:pt x="6771894" y="4811710"/>
                    <a:pt x="6771894" y="4340079"/>
                  </a:cubicBezTo>
                  <a:lnTo>
                    <a:pt x="6771894" y="877310"/>
                  </a:lnTo>
                  <a:cubicBezTo>
                    <a:pt x="6771894" y="405526"/>
                    <a:pt x="6454775" y="23160"/>
                    <a:pt x="6063361" y="23160"/>
                  </a:cubicBezTo>
                  <a:lnTo>
                    <a:pt x="727583" y="23160"/>
                  </a:lnTo>
                  <a:lnTo>
                    <a:pt x="727583" y="11503"/>
                  </a:lnTo>
                  <a:lnTo>
                    <a:pt x="727583" y="23006"/>
                  </a:lnTo>
                  <a:cubicBezTo>
                    <a:pt x="336296" y="23006"/>
                    <a:pt x="19050" y="405526"/>
                    <a:pt x="19050" y="877310"/>
                  </a:cubicBezTo>
                  <a:close/>
                </a:path>
              </a:pathLst>
            </a:custGeom>
            <a:solidFill>
              <a:srgbClr val="E1E7ED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665469" y="4170293"/>
            <a:ext cx="658882" cy="658882"/>
            <a:chOff x="0" y="0"/>
            <a:chExt cx="878510" cy="87851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DAA54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665469" y="4204611"/>
            <a:ext cx="658882" cy="590245"/>
            <a:chOff x="0" y="0"/>
            <a:chExt cx="878510" cy="78699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8510" cy="786999"/>
            </a:xfrm>
            <a:custGeom>
              <a:avLst/>
              <a:gdLst/>
              <a:ahLst/>
              <a:cxnLst/>
              <a:rect r="r" b="b" t="t" l="l"/>
              <a:pathLst>
                <a:path h="786999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937" t="0" r="-64937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878510" cy="825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●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3591051" y="4114329"/>
            <a:ext cx="3550787" cy="7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1"/>
              </a:lnSpc>
              <a:spcBef>
                <a:spcPct val="0"/>
              </a:spcBef>
            </a:pPr>
            <a:r>
              <a:rPr lang="en-US" b="true" sz="3001" strike="noStrike" u="non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Цільові</a:t>
            </a:r>
          </a:p>
          <a:p>
            <a:pPr algn="l" marL="0" indent="0" lvl="0">
              <a:lnSpc>
                <a:spcPts val="3001"/>
              </a:lnSpc>
              <a:spcBef>
                <a:spcPct val="0"/>
              </a:spcBef>
            </a:pPr>
            <a:r>
              <a:rPr lang="en-US" b="true" sz="3001" strike="noStrike" u="non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аудиторії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665469" y="5108331"/>
            <a:ext cx="4209669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Педагоги, науково-педагогічні працівники, держслужбовці, громади, фахівці різних галузей.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975175" y="8079264"/>
            <a:ext cx="230619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РЕЗУЛЬТАТ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151917" y="8524875"/>
            <a:ext cx="1398416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Людина отримує актуальні компетентності, </a:t>
            </a:r>
          </a:p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а Університет - механізм швидкого реагування на зміни професійного середовища.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700773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1552098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Центр моніторингу, аналітики та розвитку освітніх екосистем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791667"/>
            <a:ext cx="1372676" cy="75495"/>
            <a:chOff x="0" y="0"/>
            <a:chExt cx="1830235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0197" cy="100711"/>
            </a:xfrm>
            <a:custGeom>
              <a:avLst/>
              <a:gdLst/>
              <a:ahLst/>
              <a:cxnLst/>
              <a:rect r="r" b="b" t="t" l="l"/>
              <a:pathLst>
                <a:path h="10071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971937"/>
            <a:ext cx="256246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DAA541"/>
                </a:solidFill>
                <a:latin typeface="Aptos Bold"/>
                <a:ea typeface="Aptos Bold"/>
                <a:cs typeface="Aptos Bold"/>
                <a:sym typeface="Aptos Bold"/>
              </a:rPr>
              <a:t>СОЦІАЛЬНА МІСІЯ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58266"/>
            <a:ext cx="1601465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Перетворювати дані про освіту та ринок праці на управлінські рішення.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3196183"/>
            <a:ext cx="5093189" cy="4238691"/>
            <a:chOff x="0" y="0"/>
            <a:chExt cx="6790919" cy="56515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9525" y="11954"/>
              <a:ext cx="6771894" cy="5627728"/>
            </a:xfrm>
            <a:custGeom>
              <a:avLst/>
              <a:gdLst/>
              <a:ahLst/>
              <a:cxnLst/>
              <a:rect r="r" b="b" t="t" l="l"/>
              <a:pathLst>
                <a:path h="5627728" w="6771894">
                  <a:moveTo>
                    <a:pt x="0" y="938008"/>
                  </a:moveTo>
                  <a:cubicBezTo>
                    <a:pt x="0" y="419992"/>
                    <a:pt x="335153" y="0"/>
                    <a:pt x="748411" y="0"/>
                  </a:cubicBezTo>
                  <a:lnTo>
                    <a:pt x="6023483" y="0"/>
                  </a:lnTo>
                  <a:cubicBezTo>
                    <a:pt x="6436868" y="0"/>
                    <a:pt x="6771894" y="419992"/>
                    <a:pt x="6771894" y="938008"/>
                  </a:cubicBezTo>
                  <a:lnTo>
                    <a:pt x="6771894" y="4689721"/>
                  </a:lnTo>
                  <a:cubicBezTo>
                    <a:pt x="6771894" y="5207737"/>
                    <a:pt x="6436868" y="5627729"/>
                    <a:pt x="6023483" y="5627729"/>
                  </a:cubicBezTo>
                  <a:lnTo>
                    <a:pt x="748411" y="5627729"/>
                  </a:lnTo>
                  <a:cubicBezTo>
                    <a:pt x="335153" y="5627728"/>
                    <a:pt x="0" y="5207737"/>
                    <a:pt x="0" y="4689721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90944" cy="5651627"/>
            </a:xfrm>
            <a:custGeom>
              <a:avLst/>
              <a:gdLst/>
              <a:ahLst/>
              <a:cxnLst/>
              <a:rect r="r" b="b" t="t" l="l"/>
              <a:pathLst>
                <a:path h="5651627" w="6790944">
                  <a:moveTo>
                    <a:pt x="0" y="949962"/>
                  </a:moveTo>
                  <a:cubicBezTo>
                    <a:pt x="0" y="425251"/>
                    <a:pt x="339344" y="0"/>
                    <a:pt x="757936" y="0"/>
                  </a:cubicBezTo>
                  <a:lnTo>
                    <a:pt x="6033008" y="0"/>
                  </a:lnTo>
                  <a:lnTo>
                    <a:pt x="6033008" y="11954"/>
                  </a:lnTo>
                  <a:lnTo>
                    <a:pt x="6033008" y="0"/>
                  </a:lnTo>
                  <a:cubicBezTo>
                    <a:pt x="6451600" y="0"/>
                    <a:pt x="6790944" y="425251"/>
                    <a:pt x="6790944" y="949962"/>
                  </a:cubicBezTo>
                  <a:lnTo>
                    <a:pt x="6781419" y="949962"/>
                  </a:lnTo>
                  <a:lnTo>
                    <a:pt x="6790944" y="949962"/>
                  </a:lnTo>
                  <a:lnTo>
                    <a:pt x="6790944" y="4701675"/>
                  </a:lnTo>
                  <a:lnTo>
                    <a:pt x="6781419" y="4701675"/>
                  </a:lnTo>
                  <a:lnTo>
                    <a:pt x="6790944" y="4701675"/>
                  </a:lnTo>
                  <a:cubicBezTo>
                    <a:pt x="6790944" y="5226385"/>
                    <a:pt x="6451600" y="5651627"/>
                    <a:pt x="6033008" y="5651627"/>
                  </a:cubicBezTo>
                  <a:lnTo>
                    <a:pt x="6033008" y="5639683"/>
                  </a:lnTo>
                  <a:lnTo>
                    <a:pt x="6033008" y="5651627"/>
                  </a:lnTo>
                  <a:lnTo>
                    <a:pt x="757936" y="5651627"/>
                  </a:lnTo>
                  <a:lnTo>
                    <a:pt x="757936" y="5639683"/>
                  </a:lnTo>
                  <a:lnTo>
                    <a:pt x="757936" y="5651627"/>
                  </a:lnTo>
                  <a:cubicBezTo>
                    <a:pt x="339344" y="5651626"/>
                    <a:pt x="0" y="5226385"/>
                    <a:pt x="0" y="4701675"/>
                  </a:cubicBezTo>
                  <a:lnTo>
                    <a:pt x="0" y="949962"/>
                  </a:lnTo>
                  <a:lnTo>
                    <a:pt x="9525" y="949962"/>
                  </a:lnTo>
                  <a:lnTo>
                    <a:pt x="0" y="949962"/>
                  </a:lnTo>
                  <a:moveTo>
                    <a:pt x="19050" y="949962"/>
                  </a:moveTo>
                  <a:lnTo>
                    <a:pt x="19050" y="4701675"/>
                  </a:lnTo>
                  <a:lnTo>
                    <a:pt x="9525" y="4701675"/>
                  </a:lnTo>
                  <a:lnTo>
                    <a:pt x="19050" y="4701675"/>
                  </a:lnTo>
                  <a:cubicBezTo>
                    <a:pt x="19050" y="5212997"/>
                    <a:pt x="349885" y="5627728"/>
                    <a:pt x="757936" y="5627728"/>
                  </a:cubicBezTo>
                  <a:lnTo>
                    <a:pt x="6033008" y="5627728"/>
                  </a:lnTo>
                  <a:cubicBezTo>
                    <a:pt x="6441059" y="5627728"/>
                    <a:pt x="6771894" y="5213156"/>
                    <a:pt x="6771894" y="4701675"/>
                  </a:cubicBezTo>
                  <a:lnTo>
                    <a:pt x="6771894" y="949962"/>
                  </a:lnTo>
                  <a:cubicBezTo>
                    <a:pt x="6771894" y="438640"/>
                    <a:pt x="6441059" y="23908"/>
                    <a:pt x="6033008" y="23908"/>
                  </a:cubicBezTo>
                  <a:lnTo>
                    <a:pt x="757936" y="23908"/>
                  </a:lnTo>
                  <a:lnTo>
                    <a:pt x="757936" y="11954"/>
                  </a:lnTo>
                  <a:lnTo>
                    <a:pt x="757936" y="23908"/>
                  </a:lnTo>
                  <a:cubicBezTo>
                    <a:pt x="349885" y="23908"/>
                    <a:pt x="19050" y="438481"/>
                    <a:pt x="19050" y="949962"/>
                  </a:cubicBezTo>
                  <a:close/>
                </a:path>
              </a:pathLst>
            </a:custGeom>
            <a:solidFill>
              <a:srgbClr val="E1E7E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9941" y="4103444"/>
            <a:ext cx="658882" cy="658882"/>
            <a:chOff x="0" y="0"/>
            <a:chExt cx="878510" cy="8785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2A69A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09941" y="4137762"/>
            <a:ext cx="658882" cy="590245"/>
            <a:chOff x="0" y="0"/>
            <a:chExt cx="878510" cy="7869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8510" cy="786999"/>
            </a:xfrm>
            <a:custGeom>
              <a:avLst/>
              <a:gdLst/>
              <a:ahLst/>
              <a:cxnLst/>
              <a:rect r="r" b="b" t="t" l="l"/>
              <a:pathLst>
                <a:path h="786999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937" t="0" r="-6493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878510" cy="786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476314" y="4204285"/>
            <a:ext cx="355078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1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Моніторинг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9941" y="5296479"/>
            <a:ext cx="4209669" cy="162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Якість навчання, результативність програм, реєстри програм і документів.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81680" y="3196183"/>
            <a:ext cx="5093189" cy="4238691"/>
            <a:chOff x="0" y="0"/>
            <a:chExt cx="6790919" cy="565158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9525" y="11954"/>
              <a:ext cx="6771894" cy="5627728"/>
            </a:xfrm>
            <a:custGeom>
              <a:avLst/>
              <a:gdLst/>
              <a:ahLst/>
              <a:cxnLst/>
              <a:rect r="r" b="b" t="t" l="l"/>
              <a:pathLst>
                <a:path h="5627728" w="6771894">
                  <a:moveTo>
                    <a:pt x="0" y="938008"/>
                  </a:moveTo>
                  <a:cubicBezTo>
                    <a:pt x="0" y="419992"/>
                    <a:pt x="335153" y="0"/>
                    <a:pt x="748411" y="0"/>
                  </a:cubicBezTo>
                  <a:lnTo>
                    <a:pt x="6023483" y="0"/>
                  </a:lnTo>
                  <a:cubicBezTo>
                    <a:pt x="6436868" y="0"/>
                    <a:pt x="6771894" y="419992"/>
                    <a:pt x="6771894" y="938008"/>
                  </a:cubicBezTo>
                  <a:lnTo>
                    <a:pt x="6771894" y="4689721"/>
                  </a:lnTo>
                  <a:cubicBezTo>
                    <a:pt x="6771894" y="5207737"/>
                    <a:pt x="6436868" y="5627729"/>
                    <a:pt x="6023483" y="5627729"/>
                  </a:cubicBezTo>
                  <a:lnTo>
                    <a:pt x="748411" y="5627729"/>
                  </a:lnTo>
                  <a:cubicBezTo>
                    <a:pt x="335153" y="5627728"/>
                    <a:pt x="0" y="5207737"/>
                    <a:pt x="0" y="4689721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90944" cy="5651627"/>
            </a:xfrm>
            <a:custGeom>
              <a:avLst/>
              <a:gdLst/>
              <a:ahLst/>
              <a:cxnLst/>
              <a:rect r="r" b="b" t="t" l="l"/>
              <a:pathLst>
                <a:path h="5651627" w="6790944">
                  <a:moveTo>
                    <a:pt x="0" y="949962"/>
                  </a:moveTo>
                  <a:cubicBezTo>
                    <a:pt x="0" y="425251"/>
                    <a:pt x="339344" y="0"/>
                    <a:pt x="757936" y="0"/>
                  </a:cubicBezTo>
                  <a:lnTo>
                    <a:pt x="6033008" y="0"/>
                  </a:lnTo>
                  <a:lnTo>
                    <a:pt x="6033008" y="11954"/>
                  </a:lnTo>
                  <a:lnTo>
                    <a:pt x="6033008" y="0"/>
                  </a:lnTo>
                  <a:cubicBezTo>
                    <a:pt x="6451600" y="0"/>
                    <a:pt x="6790944" y="425251"/>
                    <a:pt x="6790944" y="949962"/>
                  </a:cubicBezTo>
                  <a:lnTo>
                    <a:pt x="6781419" y="949962"/>
                  </a:lnTo>
                  <a:lnTo>
                    <a:pt x="6790944" y="949962"/>
                  </a:lnTo>
                  <a:lnTo>
                    <a:pt x="6790944" y="4701675"/>
                  </a:lnTo>
                  <a:lnTo>
                    <a:pt x="6781419" y="4701675"/>
                  </a:lnTo>
                  <a:lnTo>
                    <a:pt x="6790944" y="4701675"/>
                  </a:lnTo>
                  <a:cubicBezTo>
                    <a:pt x="6790944" y="5226385"/>
                    <a:pt x="6451600" y="5651627"/>
                    <a:pt x="6033008" y="5651627"/>
                  </a:cubicBezTo>
                  <a:lnTo>
                    <a:pt x="6033008" y="5639683"/>
                  </a:lnTo>
                  <a:lnTo>
                    <a:pt x="6033008" y="5651627"/>
                  </a:lnTo>
                  <a:lnTo>
                    <a:pt x="757936" y="5651627"/>
                  </a:lnTo>
                  <a:lnTo>
                    <a:pt x="757936" y="5639683"/>
                  </a:lnTo>
                  <a:lnTo>
                    <a:pt x="757936" y="5651627"/>
                  </a:lnTo>
                  <a:cubicBezTo>
                    <a:pt x="339344" y="5651626"/>
                    <a:pt x="0" y="5226385"/>
                    <a:pt x="0" y="4701675"/>
                  </a:cubicBezTo>
                  <a:lnTo>
                    <a:pt x="0" y="949962"/>
                  </a:lnTo>
                  <a:lnTo>
                    <a:pt x="9525" y="949962"/>
                  </a:lnTo>
                  <a:lnTo>
                    <a:pt x="0" y="949962"/>
                  </a:lnTo>
                  <a:moveTo>
                    <a:pt x="19050" y="949962"/>
                  </a:moveTo>
                  <a:lnTo>
                    <a:pt x="19050" y="4701675"/>
                  </a:lnTo>
                  <a:lnTo>
                    <a:pt x="9525" y="4701675"/>
                  </a:lnTo>
                  <a:lnTo>
                    <a:pt x="19050" y="4701675"/>
                  </a:lnTo>
                  <a:cubicBezTo>
                    <a:pt x="19050" y="5212997"/>
                    <a:pt x="349885" y="5627728"/>
                    <a:pt x="757936" y="5627728"/>
                  </a:cubicBezTo>
                  <a:lnTo>
                    <a:pt x="6033008" y="5627728"/>
                  </a:lnTo>
                  <a:cubicBezTo>
                    <a:pt x="6441059" y="5627728"/>
                    <a:pt x="6771894" y="5213156"/>
                    <a:pt x="6771894" y="4701675"/>
                  </a:cubicBezTo>
                  <a:lnTo>
                    <a:pt x="6771894" y="949962"/>
                  </a:lnTo>
                  <a:cubicBezTo>
                    <a:pt x="6771894" y="438640"/>
                    <a:pt x="6441059" y="23908"/>
                    <a:pt x="6033008" y="23908"/>
                  </a:cubicBezTo>
                  <a:lnTo>
                    <a:pt x="757936" y="23908"/>
                  </a:lnTo>
                  <a:lnTo>
                    <a:pt x="757936" y="11954"/>
                  </a:lnTo>
                  <a:lnTo>
                    <a:pt x="757936" y="23908"/>
                  </a:lnTo>
                  <a:cubicBezTo>
                    <a:pt x="349885" y="23908"/>
                    <a:pt x="19050" y="438481"/>
                    <a:pt x="19050" y="949962"/>
                  </a:cubicBezTo>
                  <a:close/>
                </a:path>
              </a:pathLst>
            </a:custGeom>
            <a:solidFill>
              <a:srgbClr val="E1E7E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023440" y="4144616"/>
            <a:ext cx="658882" cy="658882"/>
            <a:chOff x="0" y="0"/>
            <a:chExt cx="878510" cy="8785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3A9AB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023440" y="4178934"/>
            <a:ext cx="658882" cy="590245"/>
            <a:chOff x="0" y="0"/>
            <a:chExt cx="878510" cy="7869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78510" cy="786999"/>
            </a:xfrm>
            <a:custGeom>
              <a:avLst/>
              <a:gdLst/>
              <a:ahLst/>
              <a:cxnLst/>
              <a:rect r="r" b="b" t="t" l="l"/>
              <a:pathLst>
                <a:path h="786999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937" t="0" r="-64937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878510" cy="786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913058" y="4245457"/>
            <a:ext cx="355078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1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Аналітика ринку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23440" y="5462838"/>
            <a:ext cx="4209669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Вивчення потреб ринку праці та прогнозування нових освітніх запитів.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209631" y="3196183"/>
            <a:ext cx="5093189" cy="4238691"/>
            <a:chOff x="0" y="0"/>
            <a:chExt cx="6790919" cy="565158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9525" y="11954"/>
              <a:ext cx="6771894" cy="5627728"/>
            </a:xfrm>
            <a:custGeom>
              <a:avLst/>
              <a:gdLst/>
              <a:ahLst/>
              <a:cxnLst/>
              <a:rect r="r" b="b" t="t" l="l"/>
              <a:pathLst>
                <a:path h="5627728" w="6771894">
                  <a:moveTo>
                    <a:pt x="0" y="938008"/>
                  </a:moveTo>
                  <a:cubicBezTo>
                    <a:pt x="0" y="419992"/>
                    <a:pt x="335153" y="0"/>
                    <a:pt x="748411" y="0"/>
                  </a:cubicBezTo>
                  <a:lnTo>
                    <a:pt x="6023483" y="0"/>
                  </a:lnTo>
                  <a:cubicBezTo>
                    <a:pt x="6436868" y="0"/>
                    <a:pt x="6771894" y="419992"/>
                    <a:pt x="6771894" y="938008"/>
                  </a:cubicBezTo>
                  <a:lnTo>
                    <a:pt x="6771894" y="4689721"/>
                  </a:lnTo>
                  <a:cubicBezTo>
                    <a:pt x="6771894" y="5207737"/>
                    <a:pt x="6436868" y="5627729"/>
                    <a:pt x="6023483" y="5627729"/>
                  </a:cubicBezTo>
                  <a:lnTo>
                    <a:pt x="748411" y="5627729"/>
                  </a:lnTo>
                  <a:cubicBezTo>
                    <a:pt x="335153" y="5627728"/>
                    <a:pt x="0" y="5207737"/>
                    <a:pt x="0" y="4689721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90944" cy="5651627"/>
            </a:xfrm>
            <a:custGeom>
              <a:avLst/>
              <a:gdLst/>
              <a:ahLst/>
              <a:cxnLst/>
              <a:rect r="r" b="b" t="t" l="l"/>
              <a:pathLst>
                <a:path h="5651627" w="6790944">
                  <a:moveTo>
                    <a:pt x="0" y="949962"/>
                  </a:moveTo>
                  <a:cubicBezTo>
                    <a:pt x="0" y="425251"/>
                    <a:pt x="339344" y="0"/>
                    <a:pt x="757936" y="0"/>
                  </a:cubicBezTo>
                  <a:lnTo>
                    <a:pt x="6033008" y="0"/>
                  </a:lnTo>
                  <a:lnTo>
                    <a:pt x="6033008" y="11954"/>
                  </a:lnTo>
                  <a:lnTo>
                    <a:pt x="6033008" y="0"/>
                  </a:lnTo>
                  <a:cubicBezTo>
                    <a:pt x="6451600" y="0"/>
                    <a:pt x="6790944" y="425251"/>
                    <a:pt x="6790944" y="949962"/>
                  </a:cubicBezTo>
                  <a:lnTo>
                    <a:pt x="6781419" y="949962"/>
                  </a:lnTo>
                  <a:lnTo>
                    <a:pt x="6790944" y="949962"/>
                  </a:lnTo>
                  <a:lnTo>
                    <a:pt x="6790944" y="4701675"/>
                  </a:lnTo>
                  <a:lnTo>
                    <a:pt x="6781419" y="4701675"/>
                  </a:lnTo>
                  <a:lnTo>
                    <a:pt x="6790944" y="4701675"/>
                  </a:lnTo>
                  <a:cubicBezTo>
                    <a:pt x="6790944" y="5226385"/>
                    <a:pt x="6451600" y="5651627"/>
                    <a:pt x="6033008" y="5651627"/>
                  </a:cubicBezTo>
                  <a:lnTo>
                    <a:pt x="6033008" y="5639683"/>
                  </a:lnTo>
                  <a:lnTo>
                    <a:pt x="6033008" y="5651627"/>
                  </a:lnTo>
                  <a:lnTo>
                    <a:pt x="757936" y="5651627"/>
                  </a:lnTo>
                  <a:lnTo>
                    <a:pt x="757936" y="5639683"/>
                  </a:lnTo>
                  <a:lnTo>
                    <a:pt x="757936" y="5651627"/>
                  </a:lnTo>
                  <a:cubicBezTo>
                    <a:pt x="339344" y="5651626"/>
                    <a:pt x="0" y="5226385"/>
                    <a:pt x="0" y="4701675"/>
                  </a:cubicBezTo>
                  <a:lnTo>
                    <a:pt x="0" y="949962"/>
                  </a:lnTo>
                  <a:lnTo>
                    <a:pt x="9525" y="949962"/>
                  </a:lnTo>
                  <a:lnTo>
                    <a:pt x="0" y="949962"/>
                  </a:lnTo>
                  <a:moveTo>
                    <a:pt x="19050" y="949962"/>
                  </a:moveTo>
                  <a:lnTo>
                    <a:pt x="19050" y="4701675"/>
                  </a:lnTo>
                  <a:lnTo>
                    <a:pt x="9525" y="4701675"/>
                  </a:lnTo>
                  <a:lnTo>
                    <a:pt x="19050" y="4701675"/>
                  </a:lnTo>
                  <a:cubicBezTo>
                    <a:pt x="19050" y="5212997"/>
                    <a:pt x="349885" y="5627728"/>
                    <a:pt x="757936" y="5627728"/>
                  </a:cubicBezTo>
                  <a:lnTo>
                    <a:pt x="6033008" y="5627728"/>
                  </a:lnTo>
                  <a:cubicBezTo>
                    <a:pt x="6441059" y="5627728"/>
                    <a:pt x="6771894" y="5213156"/>
                    <a:pt x="6771894" y="4701675"/>
                  </a:cubicBezTo>
                  <a:lnTo>
                    <a:pt x="6771894" y="949962"/>
                  </a:lnTo>
                  <a:cubicBezTo>
                    <a:pt x="6771894" y="438640"/>
                    <a:pt x="6441059" y="23908"/>
                    <a:pt x="6033008" y="23908"/>
                  </a:cubicBezTo>
                  <a:lnTo>
                    <a:pt x="757936" y="23908"/>
                  </a:lnTo>
                  <a:lnTo>
                    <a:pt x="757936" y="11954"/>
                  </a:lnTo>
                  <a:lnTo>
                    <a:pt x="757936" y="23908"/>
                  </a:lnTo>
                  <a:cubicBezTo>
                    <a:pt x="349885" y="23908"/>
                    <a:pt x="19050" y="438481"/>
                    <a:pt x="19050" y="949962"/>
                  </a:cubicBezTo>
                  <a:close/>
                </a:path>
              </a:pathLst>
            </a:custGeom>
            <a:solidFill>
              <a:srgbClr val="E1E7ED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651391" y="4103444"/>
            <a:ext cx="658882" cy="658882"/>
            <a:chOff x="0" y="0"/>
            <a:chExt cx="878510" cy="87851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DAA54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651391" y="4137762"/>
            <a:ext cx="658882" cy="590245"/>
            <a:chOff x="0" y="0"/>
            <a:chExt cx="878510" cy="78699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8510" cy="786999"/>
            </a:xfrm>
            <a:custGeom>
              <a:avLst/>
              <a:gdLst/>
              <a:ahLst/>
              <a:cxnLst/>
              <a:rect r="r" b="b" t="t" l="l"/>
              <a:pathLst>
                <a:path h="786999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937" t="0" r="-64937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878510" cy="786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3492572" y="3975685"/>
            <a:ext cx="3550787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1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Управлінські рішення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651391" y="5462838"/>
            <a:ext cx="4209669" cy="162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Щорічні звіти, рекомендації та аналітична підтримка трансформації освітніх послуг.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102558" y="7945914"/>
            <a:ext cx="208288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РЕЗУЛЬТАТ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269707" y="8365014"/>
            <a:ext cx="1371713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Освітня політика та програми формуються на основі даних, а не припущень.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700773" y="9699812"/>
            <a:ext cx="572091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5831" y="1292226"/>
            <a:ext cx="1552098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Центр моніторингу, аналітики та розвитку освітніх екосистем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457662" y="2111376"/>
            <a:ext cx="1372676" cy="75495"/>
            <a:chOff x="0" y="0"/>
            <a:chExt cx="1830235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0197" cy="100711"/>
            </a:xfrm>
            <a:custGeom>
              <a:avLst/>
              <a:gdLst/>
              <a:ahLst/>
              <a:cxnLst/>
              <a:rect r="r" b="b" t="t" l="l"/>
              <a:pathLst>
                <a:path h="10071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7873" y="4331436"/>
            <a:ext cx="7594933" cy="4688739"/>
            <a:chOff x="0" y="0"/>
            <a:chExt cx="10126577" cy="62516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4204" y="13223"/>
              <a:ext cx="10098209" cy="6225258"/>
            </a:xfrm>
            <a:custGeom>
              <a:avLst/>
              <a:gdLst/>
              <a:ahLst/>
              <a:cxnLst/>
              <a:rect r="r" b="b" t="t" l="l"/>
              <a:pathLst>
                <a:path h="6225258" w="10098209">
                  <a:moveTo>
                    <a:pt x="0" y="1037602"/>
                  </a:moveTo>
                  <a:cubicBezTo>
                    <a:pt x="0" y="464585"/>
                    <a:pt x="499778" y="0"/>
                    <a:pt x="1116026" y="0"/>
                  </a:cubicBezTo>
                  <a:lnTo>
                    <a:pt x="8982182" y="0"/>
                  </a:lnTo>
                  <a:cubicBezTo>
                    <a:pt x="9598619" y="0"/>
                    <a:pt x="10098208" y="464585"/>
                    <a:pt x="10098208" y="1037602"/>
                  </a:cubicBezTo>
                  <a:lnTo>
                    <a:pt x="10098208" y="5187656"/>
                  </a:lnTo>
                  <a:cubicBezTo>
                    <a:pt x="10098208" y="5760673"/>
                    <a:pt x="9598619" y="6225258"/>
                    <a:pt x="8982182" y="6225258"/>
                  </a:cubicBezTo>
                  <a:lnTo>
                    <a:pt x="1116026" y="6225258"/>
                  </a:lnTo>
                  <a:cubicBezTo>
                    <a:pt x="499778" y="6225257"/>
                    <a:pt x="0" y="5760673"/>
                    <a:pt x="0" y="5187656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26602" cy="6251690"/>
            </a:xfrm>
            <a:custGeom>
              <a:avLst/>
              <a:gdLst/>
              <a:ahLst/>
              <a:cxnLst/>
              <a:rect r="r" b="b" t="t" l="l"/>
              <a:pathLst>
                <a:path h="6251690" w="10126602">
                  <a:moveTo>
                    <a:pt x="0" y="1050825"/>
                  </a:moveTo>
                  <a:cubicBezTo>
                    <a:pt x="0" y="470403"/>
                    <a:pt x="506028" y="0"/>
                    <a:pt x="1130230" y="0"/>
                  </a:cubicBezTo>
                  <a:lnTo>
                    <a:pt x="8996386" y="0"/>
                  </a:lnTo>
                  <a:lnTo>
                    <a:pt x="8996386" y="13223"/>
                  </a:lnTo>
                  <a:lnTo>
                    <a:pt x="8996386" y="0"/>
                  </a:lnTo>
                  <a:cubicBezTo>
                    <a:pt x="9620587" y="0"/>
                    <a:pt x="10126602" y="470403"/>
                    <a:pt x="10126602" y="1050825"/>
                  </a:cubicBezTo>
                  <a:lnTo>
                    <a:pt x="10112411" y="1050825"/>
                  </a:lnTo>
                  <a:lnTo>
                    <a:pt x="10126602" y="1050825"/>
                  </a:lnTo>
                  <a:lnTo>
                    <a:pt x="10126602" y="5200879"/>
                  </a:lnTo>
                  <a:lnTo>
                    <a:pt x="10112411" y="5200879"/>
                  </a:lnTo>
                  <a:lnTo>
                    <a:pt x="10126602" y="5200879"/>
                  </a:lnTo>
                  <a:cubicBezTo>
                    <a:pt x="10126602" y="5781302"/>
                    <a:pt x="9620587" y="6251690"/>
                    <a:pt x="8996385" y="6251690"/>
                  </a:cubicBezTo>
                  <a:lnTo>
                    <a:pt x="8996385" y="6238481"/>
                  </a:lnTo>
                  <a:lnTo>
                    <a:pt x="8996385" y="6251690"/>
                  </a:lnTo>
                  <a:lnTo>
                    <a:pt x="1130230" y="6251690"/>
                  </a:lnTo>
                  <a:lnTo>
                    <a:pt x="1130230" y="6238481"/>
                  </a:lnTo>
                  <a:lnTo>
                    <a:pt x="1130230" y="6251690"/>
                  </a:lnTo>
                  <a:cubicBezTo>
                    <a:pt x="506028" y="6251689"/>
                    <a:pt x="0" y="5781301"/>
                    <a:pt x="0" y="5200879"/>
                  </a:cubicBezTo>
                  <a:lnTo>
                    <a:pt x="0" y="1050825"/>
                  </a:lnTo>
                  <a:lnTo>
                    <a:pt x="14204" y="1050825"/>
                  </a:lnTo>
                  <a:lnTo>
                    <a:pt x="0" y="1050825"/>
                  </a:lnTo>
                  <a:moveTo>
                    <a:pt x="28407" y="1050825"/>
                  </a:moveTo>
                  <a:lnTo>
                    <a:pt x="28407" y="5200879"/>
                  </a:lnTo>
                  <a:lnTo>
                    <a:pt x="14204" y="5200879"/>
                  </a:lnTo>
                  <a:lnTo>
                    <a:pt x="28407" y="5200879"/>
                  </a:lnTo>
                  <a:cubicBezTo>
                    <a:pt x="28407" y="5766491"/>
                    <a:pt x="521746" y="6225258"/>
                    <a:pt x="1130230" y="6225258"/>
                  </a:cubicBezTo>
                  <a:lnTo>
                    <a:pt x="8996386" y="6225258"/>
                  </a:lnTo>
                  <a:cubicBezTo>
                    <a:pt x="9604869" y="6225258"/>
                    <a:pt x="10098208" y="5766667"/>
                    <a:pt x="10098208" y="5200879"/>
                  </a:cubicBezTo>
                  <a:lnTo>
                    <a:pt x="10098208" y="1050825"/>
                  </a:lnTo>
                  <a:cubicBezTo>
                    <a:pt x="10098208" y="485213"/>
                    <a:pt x="9604869" y="26447"/>
                    <a:pt x="8996386" y="26447"/>
                  </a:cubicBezTo>
                  <a:lnTo>
                    <a:pt x="1130230" y="26447"/>
                  </a:lnTo>
                  <a:lnTo>
                    <a:pt x="1130230" y="13223"/>
                  </a:lnTo>
                  <a:lnTo>
                    <a:pt x="1130230" y="26447"/>
                  </a:lnTo>
                  <a:cubicBezTo>
                    <a:pt x="521746" y="26447"/>
                    <a:pt x="28407" y="485037"/>
                    <a:pt x="28407" y="1050825"/>
                  </a:cubicBezTo>
                  <a:close/>
                </a:path>
              </a:pathLst>
            </a:custGeom>
            <a:solidFill>
              <a:srgbClr val="E1E7E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26027" y="5034331"/>
            <a:ext cx="6178625" cy="326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каталог усіх курсі</a:t>
            </a: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в із ключовою інформацією про них;</a:t>
            </a:r>
          </a:p>
          <a:p>
            <a:pPr algn="l">
              <a:lnSpc>
                <a:spcPts val="3249"/>
              </a:lnSpc>
            </a:pP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реєстр актуальних програм, що реалізуються факультетами/ННІ/ структурними підрозділами;</a:t>
            </a:r>
          </a:p>
          <a:p>
            <a:pPr algn="l">
              <a:lnSpc>
                <a:spcPts val="3249"/>
              </a:lnSpc>
            </a:pP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реєстр виданих сертифікатів.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00773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08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91885" y="4331436"/>
            <a:ext cx="7594933" cy="4688739"/>
            <a:chOff x="0" y="0"/>
            <a:chExt cx="10126577" cy="62516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4204" y="13223"/>
              <a:ext cx="10098209" cy="6225258"/>
            </a:xfrm>
            <a:custGeom>
              <a:avLst/>
              <a:gdLst/>
              <a:ahLst/>
              <a:cxnLst/>
              <a:rect r="r" b="b" t="t" l="l"/>
              <a:pathLst>
                <a:path h="6225258" w="10098209">
                  <a:moveTo>
                    <a:pt x="0" y="1037602"/>
                  </a:moveTo>
                  <a:cubicBezTo>
                    <a:pt x="0" y="464585"/>
                    <a:pt x="499778" y="0"/>
                    <a:pt x="1116026" y="0"/>
                  </a:cubicBezTo>
                  <a:lnTo>
                    <a:pt x="8982182" y="0"/>
                  </a:lnTo>
                  <a:cubicBezTo>
                    <a:pt x="9598619" y="0"/>
                    <a:pt x="10098208" y="464585"/>
                    <a:pt x="10098208" y="1037602"/>
                  </a:cubicBezTo>
                  <a:lnTo>
                    <a:pt x="10098208" y="5187656"/>
                  </a:lnTo>
                  <a:cubicBezTo>
                    <a:pt x="10098208" y="5760673"/>
                    <a:pt x="9598619" y="6225258"/>
                    <a:pt x="8982182" y="6225258"/>
                  </a:cubicBezTo>
                  <a:lnTo>
                    <a:pt x="1116026" y="6225258"/>
                  </a:lnTo>
                  <a:cubicBezTo>
                    <a:pt x="499778" y="6225257"/>
                    <a:pt x="0" y="5760673"/>
                    <a:pt x="0" y="5187656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26602" cy="6251690"/>
            </a:xfrm>
            <a:custGeom>
              <a:avLst/>
              <a:gdLst/>
              <a:ahLst/>
              <a:cxnLst/>
              <a:rect r="r" b="b" t="t" l="l"/>
              <a:pathLst>
                <a:path h="6251690" w="10126602">
                  <a:moveTo>
                    <a:pt x="0" y="1050825"/>
                  </a:moveTo>
                  <a:cubicBezTo>
                    <a:pt x="0" y="470403"/>
                    <a:pt x="506028" y="0"/>
                    <a:pt x="1130230" y="0"/>
                  </a:cubicBezTo>
                  <a:lnTo>
                    <a:pt x="8996386" y="0"/>
                  </a:lnTo>
                  <a:lnTo>
                    <a:pt x="8996386" y="13223"/>
                  </a:lnTo>
                  <a:lnTo>
                    <a:pt x="8996386" y="0"/>
                  </a:lnTo>
                  <a:cubicBezTo>
                    <a:pt x="9620587" y="0"/>
                    <a:pt x="10126602" y="470403"/>
                    <a:pt x="10126602" y="1050825"/>
                  </a:cubicBezTo>
                  <a:lnTo>
                    <a:pt x="10112411" y="1050825"/>
                  </a:lnTo>
                  <a:lnTo>
                    <a:pt x="10126602" y="1050825"/>
                  </a:lnTo>
                  <a:lnTo>
                    <a:pt x="10126602" y="5200879"/>
                  </a:lnTo>
                  <a:lnTo>
                    <a:pt x="10112411" y="5200879"/>
                  </a:lnTo>
                  <a:lnTo>
                    <a:pt x="10126602" y="5200879"/>
                  </a:lnTo>
                  <a:cubicBezTo>
                    <a:pt x="10126602" y="5781302"/>
                    <a:pt x="9620587" y="6251690"/>
                    <a:pt x="8996385" y="6251690"/>
                  </a:cubicBezTo>
                  <a:lnTo>
                    <a:pt x="8996385" y="6238481"/>
                  </a:lnTo>
                  <a:lnTo>
                    <a:pt x="8996385" y="6251690"/>
                  </a:lnTo>
                  <a:lnTo>
                    <a:pt x="1130230" y="6251690"/>
                  </a:lnTo>
                  <a:lnTo>
                    <a:pt x="1130230" y="6238481"/>
                  </a:lnTo>
                  <a:lnTo>
                    <a:pt x="1130230" y="6251690"/>
                  </a:lnTo>
                  <a:cubicBezTo>
                    <a:pt x="506028" y="6251689"/>
                    <a:pt x="0" y="5781301"/>
                    <a:pt x="0" y="5200879"/>
                  </a:cubicBezTo>
                  <a:lnTo>
                    <a:pt x="0" y="1050825"/>
                  </a:lnTo>
                  <a:lnTo>
                    <a:pt x="14204" y="1050825"/>
                  </a:lnTo>
                  <a:lnTo>
                    <a:pt x="0" y="1050825"/>
                  </a:lnTo>
                  <a:moveTo>
                    <a:pt x="28407" y="1050825"/>
                  </a:moveTo>
                  <a:lnTo>
                    <a:pt x="28407" y="5200879"/>
                  </a:lnTo>
                  <a:lnTo>
                    <a:pt x="14204" y="5200879"/>
                  </a:lnTo>
                  <a:lnTo>
                    <a:pt x="28407" y="5200879"/>
                  </a:lnTo>
                  <a:cubicBezTo>
                    <a:pt x="28407" y="5766491"/>
                    <a:pt x="521746" y="6225258"/>
                    <a:pt x="1130230" y="6225258"/>
                  </a:cubicBezTo>
                  <a:lnTo>
                    <a:pt x="8996386" y="6225258"/>
                  </a:lnTo>
                  <a:cubicBezTo>
                    <a:pt x="9604869" y="6225258"/>
                    <a:pt x="10098208" y="5766667"/>
                    <a:pt x="10098208" y="5200879"/>
                  </a:cubicBezTo>
                  <a:lnTo>
                    <a:pt x="10098208" y="1050825"/>
                  </a:lnTo>
                  <a:cubicBezTo>
                    <a:pt x="10098208" y="485213"/>
                    <a:pt x="9604869" y="26447"/>
                    <a:pt x="8996386" y="26447"/>
                  </a:cubicBezTo>
                  <a:lnTo>
                    <a:pt x="1130230" y="26447"/>
                  </a:lnTo>
                  <a:lnTo>
                    <a:pt x="1130230" y="13223"/>
                  </a:lnTo>
                  <a:lnTo>
                    <a:pt x="1130230" y="26447"/>
                  </a:lnTo>
                  <a:cubicBezTo>
                    <a:pt x="521746" y="26447"/>
                    <a:pt x="28407" y="485037"/>
                    <a:pt x="28407" y="1050825"/>
                  </a:cubicBezTo>
                  <a:close/>
                </a:path>
              </a:pathLst>
            </a:custGeom>
            <a:solidFill>
              <a:srgbClr val="E1E7ED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00039" y="4829543"/>
            <a:ext cx="6178625" cy="367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систематизац</a:t>
            </a: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ія інформації про освітні можливості;</a:t>
            </a:r>
          </a:p>
          <a:p>
            <a:pPr algn="l">
              <a:lnSpc>
                <a:spcPts val="3249"/>
              </a:lnSpc>
            </a:pP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координація взаємодії з факультетами/ННІ/ структурними підрозділами;</a:t>
            </a:r>
          </a:p>
          <a:p>
            <a:pPr algn="l">
              <a:lnSpc>
                <a:spcPts val="3249"/>
              </a:lnSpc>
            </a:pP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щоква</a:t>
            </a: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ртальний збір інформації від факультетів/ННІ/структурних підрозділів про проведені курси.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17873" y="2589106"/>
            <a:ext cx="7594933" cy="1532780"/>
            <a:chOff x="0" y="0"/>
            <a:chExt cx="2000312" cy="4036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00312" cy="403695"/>
            </a:xfrm>
            <a:custGeom>
              <a:avLst/>
              <a:gdLst/>
              <a:ahLst/>
              <a:cxnLst/>
              <a:rect r="r" b="b" t="t" l="l"/>
              <a:pathLst>
                <a:path h="403695" w="2000312">
                  <a:moveTo>
                    <a:pt x="51987" y="0"/>
                  </a:moveTo>
                  <a:lnTo>
                    <a:pt x="1948325" y="0"/>
                  </a:lnTo>
                  <a:cubicBezTo>
                    <a:pt x="1977036" y="0"/>
                    <a:pt x="2000312" y="23275"/>
                    <a:pt x="2000312" y="51987"/>
                  </a:cubicBezTo>
                  <a:lnTo>
                    <a:pt x="2000312" y="351708"/>
                  </a:lnTo>
                  <a:cubicBezTo>
                    <a:pt x="2000312" y="380420"/>
                    <a:pt x="1977036" y="403695"/>
                    <a:pt x="1948325" y="403695"/>
                  </a:cubicBezTo>
                  <a:lnTo>
                    <a:pt x="51987" y="403695"/>
                  </a:lnTo>
                  <a:cubicBezTo>
                    <a:pt x="23275" y="403695"/>
                    <a:pt x="0" y="380420"/>
                    <a:pt x="0" y="351708"/>
                  </a:cubicBezTo>
                  <a:lnTo>
                    <a:pt x="0" y="51987"/>
                  </a:lnTo>
                  <a:cubicBezTo>
                    <a:pt x="0" y="23275"/>
                    <a:pt x="23275" y="0"/>
                    <a:pt x="51987" y="0"/>
                  </a:cubicBezTo>
                  <a:close/>
                </a:path>
              </a:pathLst>
            </a:custGeom>
            <a:solidFill>
              <a:srgbClr val="2A69A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000312" cy="403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2"/>
                </a:lnSpc>
              </a:pPr>
              <a:r>
                <a:rPr lang="en-US" sz="30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Ведення та актуалізація </a:t>
              </a:r>
            </a:p>
            <a:p>
              <a:pPr algn="ctr">
                <a:lnSpc>
                  <a:spcPts val="3602"/>
                </a:lnSpc>
              </a:pPr>
              <a:r>
                <a:rPr lang="en-US" b="true" sz="300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реєстрів освітніх програм і курсів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91885" y="2589106"/>
            <a:ext cx="7594933" cy="1532780"/>
            <a:chOff x="0" y="0"/>
            <a:chExt cx="2000312" cy="4036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00312" cy="403695"/>
            </a:xfrm>
            <a:custGeom>
              <a:avLst/>
              <a:gdLst/>
              <a:ahLst/>
              <a:cxnLst/>
              <a:rect r="r" b="b" t="t" l="l"/>
              <a:pathLst>
                <a:path h="403695" w="2000312">
                  <a:moveTo>
                    <a:pt x="51987" y="0"/>
                  </a:moveTo>
                  <a:lnTo>
                    <a:pt x="1948325" y="0"/>
                  </a:lnTo>
                  <a:cubicBezTo>
                    <a:pt x="1977036" y="0"/>
                    <a:pt x="2000312" y="23275"/>
                    <a:pt x="2000312" y="51987"/>
                  </a:cubicBezTo>
                  <a:lnTo>
                    <a:pt x="2000312" y="351708"/>
                  </a:lnTo>
                  <a:cubicBezTo>
                    <a:pt x="2000312" y="380420"/>
                    <a:pt x="1977036" y="403695"/>
                    <a:pt x="1948325" y="403695"/>
                  </a:cubicBezTo>
                  <a:lnTo>
                    <a:pt x="51987" y="403695"/>
                  </a:lnTo>
                  <a:cubicBezTo>
                    <a:pt x="23275" y="403695"/>
                    <a:pt x="0" y="380420"/>
                    <a:pt x="0" y="351708"/>
                  </a:cubicBezTo>
                  <a:lnTo>
                    <a:pt x="0" y="51987"/>
                  </a:lnTo>
                  <a:cubicBezTo>
                    <a:pt x="0" y="23275"/>
                    <a:pt x="23275" y="0"/>
                    <a:pt x="51987" y="0"/>
                  </a:cubicBezTo>
                  <a:close/>
                </a:path>
              </a:pathLst>
            </a:custGeom>
            <a:solidFill>
              <a:srgbClr val="3A9AB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000312" cy="403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02"/>
                </a:lnSpc>
                <a:spcBef>
                  <a:spcPct val="0"/>
                </a:spcBef>
              </a:pPr>
              <a:r>
                <a:rPr lang="en-US" b="true" sz="3001" strike="noStrike" u="non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Координація внутрішньої </a:t>
              </a:r>
            </a:p>
            <a:p>
              <a:pPr algn="ctr" marL="0" indent="0" lvl="0">
                <a:lnSpc>
                  <a:spcPts val="3602"/>
                </a:lnSpc>
                <a:spcBef>
                  <a:spcPct val="0"/>
                </a:spcBef>
              </a:pPr>
              <a:r>
                <a:rPr lang="en-US" b="true" sz="3001" strike="noStrike" u="non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мережі освітніх програм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5831" y="1292226"/>
            <a:ext cx="1552098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Центр моніторингу, аналітики та розвитку освітніх екосистем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457662" y="2111376"/>
            <a:ext cx="1372676" cy="75495"/>
            <a:chOff x="0" y="0"/>
            <a:chExt cx="1830235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0197" cy="100711"/>
            </a:xfrm>
            <a:custGeom>
              <a:avLst/>
              <a:gdLst/>
              <a:ahLst/>
              <a:cxnLst/>
              <a:rect r="r" b="b" t="t" l="l"/>
              <a:pathLst>
                <a:path h="10071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7873" y="3810740"/>
            <a:ext cx="7594933" cy="4688739"/>
            <a:chOff x="0" y="0"/>
            <a:chExt cx="10126577" cy="62516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4204" y="13223"/>
              <a:ext cx="10098209" cy="6225258"/>
            </a:xfrm>
            <a:custGeom>
              <a:avLst/>
              <a:gdLst/>
              <a:ahLst/>
              <a:cxnLst/>
              <a:rect r="r" b="b" t="t" l="l"/>
              <a:pathLst>
                <a:path h="6225258" w="10098209">
                  <a:moveTo>
                    <a:pt x="0" y="1037602"/>
                  </a:moveTo>
                  <a:cubicBezTo>
                    <a:pt x="0" y="464585"/>
                    <a:pt x="499778" y="0"/>
                    <a:pt x="1116026" y="0"/>
                  </a:cubicBezTo>
                  <a:lnTo>
                    <a:pt x="8982182" y="0"/>
                  </a:lnTo>
                  <a:cubicBezTo>
                    <a:pt x="9598619" y="0"/>
                    <a:pt x="10098208" y="464585"/>
                    <a:pt x="10098208" y="1037602"/>
                  </a:cubicBezTo>
                  <a:lnTo>
                    <a:pt x="10098208" y="5187656"/>
                  </a:lnTo>
                  <a:cubicBezTo>
                    <a:pt x="10098208" y="5760673"/>
                    <a:pt x="9598619" y="6225258"/>
                    <a:pt x="8982182" y="6225258"/>
                  </a:cubicBezTo>
                  <a:lnTo>
                    <a:pt x="1116026" y="6225258"/>
                  </a:lnTo>
                  <a:cubicBezTo>
                    <a:pt x="499778" y="6225257"/>
                    <a:pt x="0" y="5760673"/>
                    <a:pt x="0" y="5187656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26602" cy="6251690"/>
            </a:xfrm>
            <a:custGeom>
              <a:avLst/>
              <a:gdLst/>
              <a:ahLst/>
              <a:cxnLst/>
              <a:rect r="r" b="b" t="t" l="l"/>
              <a:pathLst>
                <a:path h="6251690" w="10126602">
                  <a:moveTo>
                    <a:pt x="0" y="1050825"/>
                  </a:moveTo>
                  <a:cubicBezTo>
                    <a:pt x="0" y="470403"/>
                    <a:pt x="506028" y="0"/>
                    <a:pt x="1130230" y="0"/>
                  </a:cubicBezTo>
                  <a:lnTo>
                    <a:pt x="8996386" y="0"/>
                  </a:lnTo>
                  <a:lnTo>
                    <a:pt x="8996386" y="13223"/>
                  </a:lnTo>
                  <a:lnTo>
                    <a:pt x="8996386" y="0"/>
                  </a:lnTo>
                  <a:cubicBezTo>
                    <a:pt x="9620587" y="0"/>
                    <a:pt x="10126602" y="470403"/>
                    <a:pt x="10126602" y="1050825"/>
                  </a:cubicBezTo>
                  <a:lnTo>
                    <a:pt x="10112411" y="1050825"/>
                  </a:lnTo>
                  <a:lnTo>
                    <a:pt x="10126602" y="1050825"/>
                  </a:lnTo>
                  <a:lnTo>
                    <a:pt x="10126602" y="5200879"/>
                  </a:lnTo>
                  <a:lnTo>
                    <a:pt x="10112411" y="5200879"/>
                  </a:lnTo>
                  <a:lnTo>
                    <a:pt x="10126602" y="5200879"/>
                  </a:lnTo>
                  <a:cubicBezTo>
                    <a:pt x="10126602" y="5781302"/>
                    <a:pt x="9620587" y="6251690"/>
                    <a:pt x="8996385" y="6251690"/>
                  </a:cubicBezTo>
                  <a:lnTo>
                    <a:pt x="8996385" y="6238481"/>
                  </a:lnTo>
                  <a:lnTo>
                    <a:pt x="8996385" y="6251690"/>
                  </a:lnTo>
                  <a:lnTo>
                    <a:pt x="1130230" y="6251690"/>
                  </a:lnTo>
                  <a:lnTo>
                    <a:pt x="1130230" y="6238481"/>
                  </a:lnTo>
                  <a:lnTo>
                    <a:pt x="1130230" y="6251690"/>
                  </a:lnTo>
                  <a:cubicBezTo>
                    <a:pt x="506028" y="6251689"/>
                    <a:pt x="0" y="5781301"/>
                    <a:pt x="0" y="5200879"/>
                  </a:cubicBezTo>
                  <a:lnTo>
                    <a:pt x="0" y="1050825"/>
                  </a:lnTo>
                  <a:lnTo>
                    <a:pt x="14204" y="1050825"/>
                  </a:lnTo>
                  <a:lnTo>
                    <a:pt x="0" y="1050825"/>
                  </a:lnTo>
                  <a:moveTo>
                    <a:pt x="28407" y="1050825"/>
                  </a:moveTo>
                  <a:lnTo>
                    <a:pt x="28407" y="5200879"/>
                  </a:lnTo>
                  <a:lnTo>
                    <a:pt x="14204" y="5200879"/>
                  </a:lnTo>
                  <a:lnTo>
                    <a:pt x="28407" y="5200879"/>
                  </a:lnTo>
                  <a:cubicBezTo>
                    <a:pt x="28407" y="5766491"/>
                    <a:pt x="521746" y="6225258"/>
                    <a:pt x="1130230" y="6225258"/>
                  </a:cubicBezTo>
                  <a:lnTo>
                    <a:pt x="8996386" y="6225258"/>
                  </a:lnTo>
                  <a:cubicBezTo>
                    <a:pt x="9604869" y="6225258"/>
                    <a:pt x="10098208" y="5766667"/>
                    <a:pt x="10098208" y="5200879"/>
                  </a:cubicBezTo>
                  <a:lnTo>
                    <a:pt x="10098208" y="1050825"/>
                  </a:lnTo>
                  <a:cubicBezTo>
                    <a:pt x="10098208" y="485213"/>
                    <a:pt x="9604869" y="26447"/>
                    <a:pt x="8996386" y="26447"/>
                  </a:cubicBezTo>
                  <a:lnTo>
                    <a:pt x="1130230" y="26447"/>
                  </a:lnTo>
                  <a:lnTo>
                    <a:pt x="1130230" y="13223"/>
                  </a:lnTo>
                  <a:lnTo>
                    <a:pt x="1130230" y="26447"/>
                  </a:lnTo>
                  <a:cubicBezTo>
                    <a:pt x="521746" y="26447"/>
                    <a:pt x="28407" y="485037"/>
                    <a:pt x="28407" y="1050825"/>
                  </a:cubicBezTo>
                  <a:close/>
                </a:path>
              </a:pathLst>
            </a:custGeom>
            <a:solidFill>
              <a:srgbClr val="E1E7E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26027" y="4513634"/>
            <a:ext cx="6178625" cy="326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моніторинг актуальних тенденцій</a:t>
            </a: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 і потреб ринку праці;</a:t>
            </a:r>
          </a:p>
          <a:p>
            <a:pPr algn="l">
              <a:lnSpc>
                <a:spcPts val="3249"/>
              </a:lnSpc>
            </a:pP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аналіз</a:t>
            </a: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 затребуваних компетентностей та напрямів підготовки;</a:t>
            </a:r>
          </a:p>
          <a:p>
            <a:pPr algn="l">
              <a:lnSpc>
                <a:spcPts val="3249"/>
              </a:lnSpc>
            </a:pP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вико</a:t>
            </a: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ристання результатів аналітики для розвитку освітніх програм.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00773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09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91885" y="3810740"/>
            <a:ext cx="7594933" cy="4688739"/>
            <a:chOff x="0" y="0"/>
            <a:chExt cx="10126577" cy="62516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4204" y="13223"/>
              <a:ext cx="10098209" cy="6225258"/>
            </a:xfrm>
            <a:custGeom>
              <a:avLst/>
              <a:gdLst/>
              <a:ahLst/>
              <a:cxnLst/>
              <a:rect r="r" b="b" t="t" l="l"/>
              <a:pathLst>
                <a:path h="6225258" w="10098209">
                  <a:moveTo>
                    <a:pt x="0" y="1037602"/>
                  </a:moveTo>
                  <a:cubicBezTo>
                    <a:pt x="0" y="464585"/>
                    <a:pt x="499778" y="0"/>
                    <a:pt x="1116026" y="0"/>
                  </a:cubicBezTo>
                  <a:lnTo>
                    <a:pt x="8982182" y="0"/>
                  </a:lnTo>
                  <a:cubicBezTo>
                    <a:pt x="9598619" y="0"/>
                    <a:pt x="10098208" y="464585"/>
                    <a:pt x="10098208" y="1037602"/>
                  </a:cubicBezTo>
                  <a:lnTo>
                    <a:pt x="10098208" y="5187656"/>
                  </a:lnTo>
                  <a:cubicBezTo>
                    <a:pt x="10098208" y="5760673"/>
                    <a:pt x="9598619" y="6225258"/>
                    <a:pt x="8982182" y="6225258"/>
                  </a:cubicBezTo>
                  <a:lnTo>
                    <a:pt x="1116026" y="6225258"/>
                  </a:lnTo>
                  <a:cubicBezTo>
                    <a:pt x="499778" y="6225257"/>
                    <a:pt x="0" y="5760673"/>
                    <a:pt x="0" y="5187656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26602" cy="6251690"/>
            </a:xfrm>
            <a:custGeom>
              <a:avLst/>
              <a:gdLst/>
              <a:ahLst/>
              <a:cxnLst/>
              <a:rect r="r" b="b" t="t" l="l"/>
              <a:pathLst>
                <a:path h="6251690" w="10126602">
                  <a:moveTo>
                    <a:pt x="0" y="1050825"/>
                  </a:moveTo>
                  <a:cubicBezTo>
                    <a:pt x="0" y="470403"/>
                    <a:pt x="506028" y="0"/>
                    <a:pt x="1130230" y="0"/>
                  </a:cubicBezTo>
                  <a:lnTo>
                    <a:pt x="8996386" y="0"/>
                  </a:lnTo>
                  <a:lnTo>
                    <a:pt x="8996386" y="13223"/>
                  </a:lnTo>
                  <a:lnTo>
                    <a:pt x="8996386" y="0"/>
                  </a:lnTo>
                  <a:cubicBezTo>
                    <a:pt x="9620587" y="0"/>
                    <a:pt x="10126602" y="470403"/>
                    <a:pt x="10126602" y="1050825"/>
                  </a:cubicBezTo>
                  <a:lnTo>
                    <a:pt x="10112411" y="1050825"/>
                  </a:lnTo>
                  <a:lnTo>
                    <a:pt x="10126602" y="1050825"/>
                  </a:lnTo>
                  <a:lnTo>
                    <a:pt x="10126602" y="5200879"/>
                  </a:lnTo>
                  <a:lnTo>
                    <a:pt x="10112411" y="5200879"/>
                  </a:lnTo>
                  <a:lnTo>
                    <a:pt x="10126602" y="5200879"/>
                  </a:lnTo>
                  <a:cubicBezTo>
                    <a:pt x="10126602" y="5781302"/>
                    <a:pt x="9620587" y="6251690"/>
                    <a:pt x="8996385" y="6251690"/>
                  </a:cubicBezTo>
                  <a:lnTo>
                    <a:pt x="8996385" y="6238481"/>
                  </a:lnTo>
                  <a:lnTo>
                    <a:pt x="8996385" y="6251690"/>
                  </a:lnTo>
                  <a:lnTo>
                    <a:pt x="1130230" y="6251690"/>
                  </a:lnTo>
                  <a:lnTo>
                    <a:pt x="1130230" y="6238481"/>
                  </a:lnTo>
                  <a:lnTo>
                    <a:pt x="1130230" y="6251690"/>
                  </a:lnTo>
                  <a:cubicBezTo>
                    <a:pt x="506028" y="6251689"/>
                    <a:pt x="0" y="5781301"/>
                    <a:pt x="0" y="5200879"/>
                  </a:cubicBezTo>
                  <a:lnTo>
                    <a:pt x="0" y="1050825"/>
                  </a:lnTo>
                  <a:lnTo>
                    <a:pt x="14204" y="1050825"/>
                  </a:lnTo>
                  <a:lnTo>
                    <a:pt x="0" y="1050825"/>
                  </a:lnTo>
                  <a:moveTo>
                    <a:pt x="28407" y="1050825"/>
                  </a:moveTo>
                  <a:lnTo>
                    <a:pt x="28407" y="5200879"/>
                  </a:lnTo>
                  <a:lnTo>
                    <a:pt x="14204" y="5200879"/>
                  </a:lnTo>
                  <a:lnTo>
                    <a:pt x="28407" y="5200879"/>
                  </a:lnTo>
                  <a:cubicBezTo>
                    <a:pt x="28407" y="5766491"/>
                    <a:pt x="521746" y="6225258"/>
                    <a:pt x="1130230" y="6225258"/>
                  </a:cubicBezTo>
                  <a:lnTo>
                    <a:pt x="8996386" y="6225258"/>
                  </a:lnTo>
                  <a:cubicBezTo>
                    <a:pt x="9604869" y="6225258"/>
                    <a:pt x="10098208" y="5766667"/>
                    <a:pt x="10098208" y="5200879"/>
                  </a:cubicBezTo>
                  <a:lnTo>
                    <a:pt x="10098208" y="1050825"/>
                  </a:lnTo>
                  <a:cubicBezTo>
                    <a:pt x="10098208" y="485213"/>
                    <a:pt x="9604869" y="26447"/>
                    <a:pt x="8996386" y="26447"/>
                  </a:cubicBezTo>
                  <a:lnTo>
                    <a:pt x="1130230" y="26447"/>
                  </a:lnTo>
                  <a:lnTo>
                    <a:pt x="1130230" y="13223"/>
                  </a:lnTo>
                  <a:lnTo>
                    <a:pt x="1130230" y="26447"/>
                  </a:lnTo>
                  <a:cubicBezTo>
                    <a:pt x="521746" y="26447"/>
                    <a:pt x="28407" y="485037"/>
                    <a:pt x="28407" y="1050825"/>
                  </a:cubicBezTo>
                  <a:close/>
                </a:path>
              </a:pathLst>
            </a:custGeom>
            <a:solidFill>
              <a:srgbClr val="E1E7ED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00039" y="4308847"/>
            <a:ext cx="6178625" cy="285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а</a:t>
            </a: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наліз показників реалізації курсів;</a:t>
            </a:r>
          </a:p>
          <a:p>
            <a:pPr algn="l">
              <a:lnSpc>
                <a:spcPts val="3249"/>
              </a:lnSpc>
            </a:pP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виявлення потреб у вд</a:t>
            </a: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оскон</a:t>
            </a: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аленні програм;</a:t>
            </a:r>
          </a:p>
          <a:p>
            <a:pPr algn="l">
              <a:lnSpc>
                <a:spcPts val="3249"/>
              </a:lnSpc>
            </a:pP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підготовка аналітичних матеріалів і рекомендацій.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391885" y="2664009"/>
            <a:ext cx="7594933" cy="1005737"/>
            <a:chOff x="0" y="0"/>
            <a:chExt cx="2000312" cy="2648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00312" cy="264886"/>
            </a:xfrm>
            <a:custGeom>
              <a:avLst/>
              <a:gdLst/>
              <a:ahLst/>
              <a:cxnLst/>
              <a:rect r="r" b="b" t="t" l="l"/>
              <a:pathLst>
                <a:path h="264886" w="2000312">
                  <a:moveTo>
                    <a:pt x="51987" y="0"/>
                  </a:moveTo>
                  <a:lnTo>
                    <a:pt x="1948325" y="0"/>
                  </a:lnTo>
                  <a:cubicBezTo>
                    <a:pt x="1977036" y="0"/>
                    <a:pt x="2000312" y="23275"/>
                    <a:pt x="2000312" y="51987"/>
                  </a:cubicBezTo>
                  <a:lnTo>
                    <a:pt x="2000312" y="212899"/>
                  </a:lnTo>
                  <a:cubicBezTo>
                    <a:pt x="2000312" y="241610"/>
                    <a:pt x="1977036" y="264886"/>
                    <a:pt x="1948325" y="264886"/>
                  </a:cubicBezTo>
                  <a:lnTo>
                    <a:pt x="51987" y="264886"/>
                  </a:lnTo>
                  <a:cubicBezTo>
                    <a:pt x="38199" y="264886"/>
                    <a:pt x="24976" y="259408"/>
                    <a:pt x="15227" y="249659"/>
                  </a:cubicBezTo>
                  <a:cubicBezTo>
                    <a:pt x="5477" y="239909"/>
                    <a:pt x="0" y="226686"/>
                    <a:pt x="0" y="212899"/>
                  </a:cubicBezTo>
                  <a:lnTo>
                    <a:pt x="0" y="51987"/>
                  </a:lnTo>
                  <a:cubicBezTo>
                    <a:pt x="0" y="23275"/>
                    <a:pt x="23275" y="0"/>
                    <a:pt x="51987" y="0"/>
                  </a:cubicBezTo>
                  <a:close/>
                </a:path>
              </a:pathLst>
            </a:custGeom>
            <a:solidFill>
              <a:srgbClr val="45896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000312" cy="2648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Моніторинг якості освітніх програм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17873" y="2664009"/>
            <a:ext cx="7594933" cy="1005737"/>
            <a:chOff x="0" y="0"/>
            <a:chExt cx="2000312" cy="2648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00312" cy="264886"/>
            </a:xfrm>
            <a:custGeom>
              <a:avLst/>
              <a:gdLst/>
              <a:ahLst/>
              <a:cxnLst/>
              <a:rect r="r" b="b" t="t" l="l"/>
              <a:pathLst>
                <a:path h="264886" w="2000312">
                  <a:moveTo>
                    <a:pt x="51987" y="0"/>
                  </a:moveTo>
                  <a:lnTo>
                    <a:pt x="1948325" y="0"/>
                  </a:lnTo>
                  <a:cubicBezTo>
                    <a:pt x="1977036" y="0"/>
                    <a:pt x="2000312" y="23275"/>
                    <a:pt x="2000312" y="51987"/>
                  </a:cubicBezTo>
                  <a:lnTo>
                    <a:pt x="2000312" y="212899"/>
                  </a:lnTo>
                  <a:cubicBezTo>
                    <a:pt x="2000312" y="241610"/>
                    <a:pt x="1977036" y="264886"/>
                    <a:pt x="1948325" y="264886"/>
                  </a:cubicBezTo>
                  <a:lnTo>
                    <a:pt x="51987" y="264886"/>
                  </a:lnTo>
                  <a:cubicBezTo>
                    <a:pt x="38199" y="264886"/>
                    <a:pt x="24976" y="259408"/>
                    <a:pt x="15227" y="249659"/>
                  </a:cubicBezTo>
                  <a:cubicBezTo>
                    <a:pt x="5477" y="239909"/>
                    <a:pt x="0" y="226686"/>
                    <a:pt x="0" y="212899"/>
                  </a:cubicBezTo>
                  <a:lnTo>
                    <a:pt x="0" y="51987"/>
                  </a:lnTo>
                  <a:cubicBezTo>
                    <a:pt x="0" y="23275"/>
                    <a:pt x="23275" y="0"/>
                    <a:pt x="51987" y="0"/>
                  </a:cubicBezTo>
                  <a:close/>
                </a:path>
              </a:pathLst>
            </a:custGeom>
            <a:solidFill>
              <a:srgbClr val="DAA54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000312" cy="2648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2"/>
                </a:lnSpc>
              </a:pPr>
              <a:r>
                <a:rPr lang="en-US" b="true" sz="300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Аналітика та дослідження ринку праці 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2312" y="1749371"/>
            <a:ext cx="1372676" cy="75495"/>
            <a:chOff x="0" y="0"/>
            <a:chExt cx="1830235" cy="100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0197" cy="100711"/>
            </a:xfrm>
            <a:custGeom>
              <a:avLst/>
              <a:gdLst/>
              <a:ahLst/>
              <a:cxnLst/>
              <a:rect r="r" b="b" t="t" l="l"/>
              <a:pathLst>
                <a:path h="10071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028700"/>
            <a:ext cx="1131165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Центр цифрової освіти та освітніх технологій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2312" y="1901066"/>
            <a:ext cx="256246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b="true" sz="2000">
                <a:solidFill>
                  <a:srgbClr val="DAA541"/>
                </a:solidFill>
                <a:latin typeface="Aptos Bold"/>
                <a:ea typeface="Aptos Bold"/>
                <a:cs typeface="Aptos Bold"/>
                <a:sym typeface="Aptos Bold"/>
              </a:rPr>
              <a:t>СОЦІАЛЬНА МІСІЯ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2312" y="2291591"/>
            <a:ext cx="1601465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Зробити сучасну освіту доступнішою, гнучкішою та технологічно спроможною.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3719" y="3120266"/>
            <a:ext cx="5093189" cy="4447846"/>
            <a:chOff x="0" y="0"/>
            <a:chExt cx="6790919" cy="593046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790919" cy="5930461"/>
              <a:chOff x="0" y="0"/>
              <a:chExt cx="6790919" cy="593046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9525" y="12544"/>
                <a:ext cx="6771894" cy="5905423"/>
              </a:xfrm>
              <a:custGeom>
                <a:avLst/>
                <a:gdLst/>
                <a:ahLst/>
                <a:cxnLst/>
                <a:rect r="r" b="b" t="t" l="l"/>
                <a:pathLst>
                  <a:path h="5905423" w="6771894">
                    <a:moveTo>
                      <a:pt x="0" y="984293"/>
                    </a:moveTo>
                    <a:cubicBezTo>
                      <a:pt x="0" y="440716"/>
                      <a:pt x="335153" y="0"/>
                      <a:pt x="748411" y="0"/>
                    </a:cubicBezTo>
                    <a:lnTo>
                      <a:pt x="6023483" y="0"/>
                    </a:lnTo>
                    <a:cubicBezTo>
                      <a:pt x="6436868" y="0"/>
                      <a:pt x="6771894" y="440716"/>
                      <a:pt x="6771894" y="984293"/>
                    </a:cubicBezTo>
                    <a:lnTo>
                      <a:pt x="6771894" y="4921130"/>
                    </a:lnTo>
                    <a:cubicBezTo>
                      <a:pt x="6771894" y="5464708"/>
                      <a:pt x="6436868" y="5905423"/>
                      <a:pt x="6023483" y="5905423"/>
                    </a:cubicBezTo>
                    <a:lnTo>
                      <a:pt x="748411" y="5905423"/>
                    </a:lnTo>
                    <a:cubicBezTo>
                      <a:pt x="335153" y="5905423"/>
                      <a:pt x="0" y="5464708"/>
                      <a:pt x="0" y="4921130"/>
                    </a:cubicBezTo>
                    <a:close/>
                  </a:path>
                </a:pathLst>
              </a:custGeom>
              <a:solidFill>
                <a:srgbClr val="F4F7FA"/>
              </a:solidFill>
            </p:spPr>
          </p:sp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790944" cy="5930500"/>
              </a:xfrm>
              <a:custGeom>
                <a:avLst/>
                <a:gdLst/>
                <a:ahLst/>
                <a:cxnLst/>
                <a:rect r="r" b="b" t="t" l="l"/>
                <a:pathLst>
                  <a:path h="5930500" w="6790944">
                    <a:moveTo>
                      <a:pt x="0" y="996837"/>
                    </a:moveTo>
                    <a:cubicBezTo>
                      <a:pt x="0" y="446235"/>
                      <a:pt x="339344" y="0"/>
                      <a:pt x="757936" y="0"/>
                    </a:cubicBezTo>
                    <a:lnTo>
                      <a:pt x="6033008" y="0"/>
                    </a:lnTo>
                    <a:lnTo>
                      <a:pt x="6033008" y="12544"/>
                    </a:lnTo>
                    <a:lnTo>
                      <a:pt x="6033008" y="0"/>
                    </a:lnTo>
                    <a:cubicBezTo>
                      <a:pt x="6451600" y="0"/>
                      <a:pt x="6790944" y="446235"/>
                      <a:pt x="6790944" y="996837"/>
                    </a:cubicBezTo>
                    <a:lnTo>
                      <a:pt x="6781419" y="996837"/>
                    </a:lnTo>
                    <a:lnTo>
                      <a:pt x="6790944" y="996837"/>
                    </a:lnTo>
                    <a:lnTo>
                      <a:pt x="6790944" y="4933674"/>
                    </a:lnTo>
                    <a:lnTo>
                      <a:pt x="6781419" y="4933674"/>
                    </a:lnTo>
                    <a:lnTo>
                      <a:pt x="6790944" y="4933674"/>
                    </a:lnTo>
                    <a:cubicBezTo>
                      <a:pt x="6790944" y="5484276"/>
                      <a:pt x="6451600" y="5930500"/>
                      <a:pt x="6033008" y="5930500"/>
                    </a:cubicBezTo>
                    <a:lnTo>
                      <a:pt x="6033008" y="5917967"/>
                    </a:lnTo>
                    <a:lnTo>
                      <a:pt x="6033008" y="5930500"/>
                    </a:lnTo>
                    <a:lnTo>
                      <a:pt x="757936" y="5930500"/>
                    </a:lnTo>
                    <a:lnTo>
                      <a:pt x="757936" y="5917967"/>
                    </a:lnTo>
                    <a:lnTo>
                      <a:pt x="757936" y="5930500"/>
                    </a:lnTo>
                    <a:cubicBezTo>
                      <a:pt x="339344" y="5930499"/>
                      <a:pt x="0" y="5484276"/>
                      <a:pt x="0" y="4933674"/>
                    </a:cubicBezTo>
                    <a:lnTo>
                      <a:pt x="0" y="996837"/>
                    </a:lnTo>
                    <a:lnTo>
                      <a:pt x="9525" y="996837"/>
                    </a:lnTo>
                    <a:lnTo>
                      <a:pt x="0" y="996837"/>
                    </a:lnTo>
                    <a:moveTo>
                      <a:pt x="19050" y="996837"/>
                    </a:moveTo>
                    <a:lnTo>
                      <a:pt x="19050" y="4933674"/>
                    </a:lnTo>
                    <a:lnTo>
                      <a:pt x="9525" y="4933674"/>
                    </a:lnTo>
                    <a:lnTo>
                      <a:pt x="19050" y="4933674"/>
                    </a:lnTo>
                    <a:cubicBezTo>
                      <a:pt x="19050" y="5470227"/>
                      <a:pt x="349885" y="5905424"/>
                      <a:pt x="757936" y="5905424"/>
                    </a:cubicBezTo>
                    <a:lnTo>
                      <a:pt x="6033008" y="5905424"/>
                    </a:lnTo>
                    <a:cubicBezTo>
                      <a:pt x="6441059" y="5905424"/>
                      <a:pt x="6771894" y="5470394"/>
                      <a:pt x="6771894" y="4933674"/>
                    </a:cubicBezTo>
                    <a:lnTo>
                      <a:pt x="6771894" y="996837"/>
                    </a:lnTo>
                    <a:cubicBezTo>
                      <a:pt x="6771894" y="460284"/>
                      <a:pt x="6441059" y="25088"/>
                      <a:pt x="6033008" y="25088"/>
                    </a:cubicBezTo>
                    <a:lnTo>
                      <a:pt x="757936" y="25088"/>
                    </a:lnTo>
                    <a:lnTo>
                      <a:pt x="757936" y="12544"/>
                    </a:lnTo>
                    <a:lnTo>
                      <a:pt x="757936" y="25088"/>
                    </a:lnTo>
                    <a:cubicBezTo>
                      <a:pt x="349885" y="25088"/>
                      <a:pt x="19050" y="460117"/>
                      <a:pt x="19050" y="996837"/>
                    </a:cubicBezTo>
                    <a:close/>
                  </a:path>
                </a:pathLst>
              </a:custGeom>
              <a:solidFill>
                <a:srgbClr val="E1E7ED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2953277" y="471551"/>
              <a:ext cx="878510" cy="878510"/>
              <a:chOff x="0" y="0"/>
              <a:chExt cx="878510" cy="87851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78459" cy="878459"/>
              </a:xfrm>
              <a:custGeom>
                <a:avLst/>
                <a:gdLst/>
                <a:ahLst/>
                <a:cxnLst/>
                <a:rect r="r" b="b" t="t" l="l"/>
                <a:pathLst>
                  <a:path h="878459" w="878459">
                    <a:moveTo>
                      <a:pt x="0" y="439293"/>
                    </a:moveTo>
                    <a:cubicBezTo>
                      <a:pt x="0" y="196723"/>
                      <a:pt x="196723" y="0"/>
                      <a:pt x="439293" y="0"/>
                    </a:cubicBezTo>
                    <a:cubicBezTo>
                      <a:pt x="681863" y="0"/>
                      <a:pt x="878459" y="196723"/>
                      <a:pt x="878459" y="439293"/>
                    </a:cubicBezTo>
                    <a:cubicBezTo>
                      <a:pt x="878459" y="681863"/>
                      <a:pt x="681863" y="878459"/>
                      <a:pt x="439293" y="878459"/>
                    </a:cubicBezTo>
                    <a:cubicBezTo>
                      <a:pt x="196723" y="878459"/>
                      <a:pt x="0" y="681863"/>
                      <a:pt x="0" y="439293"/>
                    </a:cubicBezTo>
                    <a:close/>
                  </a:path>
                </a:pathLst>
              </a:custGeom>
              <a:solidFill>
                <a:srgbClr val="2A69A5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2953277" y="517309"/>
              <a:ext cx="878510" cy="786994"/>
              <a:chOff x="0" y="0"/>
              <a:chExt cx="878510" cy="78699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78510" cy="786999"/>
              </a:xfrm>
              <a:custGeom>
                <a:avLst/>
                <a:gdLst/>
                <a:ahLst/>
                <a:cxnLst/>
                <a:rect r="r" b="b" t="t" l="l"/>
                <a:pathLst>
                  <a:path h="786999" w="878510">
                    <a:moveTo>
                      <a:pt x="0" y="0"/>
                    </a:moveTo>
                    <a:lnTo>
                      <a:pt x="878510" y="0"/>
                    </a:lnTo>
                    <a:lnTo>
                      <a:pt x="878510" y="786999"/>
                    </a:lnTo>
                    <a:lnTo>
                      <a:pt x="0" y="786999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64937" t="0" r="-64937" b="0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0"/>
                <a:ext cx="878510" cy="78699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82"/>
                  </a:lnSpc>
                </a:pPr>
                <a:r>
                  <a:rPr lang="en-US" sz="240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01</a:t>
                </a: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025340" y="1680261"/>
              <a:ext cx="4734382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Цифрове навчання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741629" y="3128061"/>
              <a:ext cx="5612892" cy="223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Онлайн-курси, електронні ресурси та дистанційні освітні формати.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609212" y="3120266"/>
            <a:ext cx="5093189" cy="4447846"/>
            <a:chOff x="0" y="0"/>
            <a:chExt cx="6790919" cy="5930461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790919" cy="5930461"/>
              <a:chOff x="0" y="0"/>
              <a:chExt cx="6790919" cy="593046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9525" y="12544"/>
                <a:ext cx="6771894" cy="5905423"/>
              </a:xfrm>
              <a:custGeom>
                <a:avLst/>
                <a:gdLst/>
                <a:ahLst/>
                <a:cxnLst/>
                <a:rect r="r" b="b" t="t" l="l"/>
                <a:pathLst>
                  <a:path h="5905423" w="6771894">
                    <a:moveTo>
                      <a:pt x="0" y="984293"/>
                    </a:moveTo>
                    <a:cubicBezTo>
                      <a:pt x="0" y="440716"/>
                      <a:pt x="335153" y="0"/>
                      <a:pt x="748411" y="0"/>
                    </a:cubicBezTo>
                    <a:lnTo>
                      <a:pt x="6023483" y="0"/>
                    </a:lnTo>
                    <a:cubicBezTo>
                      <a:pt x="6436868" y="0"/>
                      <a:pt x="6771894" y="440716"/>
                      <a:pt x="6771894" y="984293"/>
                    </a:cubicBezTo>
                    <a:lnTo>
                      <a:pt x="6771894" y="4921130"/>
                    </a:lnTo>
                    <a:cubicBezTo>
                      <a:pt x="6771894" y="5464708"/>
                      <a:pt x="6436868" y="5905423"/>
                      <a:pt x="6023483" y="5905423"/>
                    </a:cubicBezTo>
                    <a:lnTo>
                      <a:pt x="748411" y="5905423"/>
                    </a:lnTo>
                    <a:cubicBezTo>
                      <a:pt x="335153" y="5905423"/>
                      <a:pt x="0" y="5464708"/>
                      <a:pt x="0" y="4921130"/>
                    </a:cubicBezTo>
                    <a:close/>
                  </a:path>
                </a:pathLst>
              </a:custGeom>
              <a:solidFill>
                <a:srgbClr val="F4F7FA"/>
              </a:solid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790944" cy="5930500"/>
              </a:xfrm>
              <a:custGeom>
                <a:avLst/>
                <a:gdLst/>
                <a:ahLst/>
                <a:cxnLst/>
                <a:rect r="r" b="b" t="t" l="l"/>
                <a:pathLst>
                  <a:path h="5930500" w="6790944">
                    <a:moveTo>
                      <a:pt x="0" y="996837"/>
                    </a:moveTo>
                    <a:cubicBezTo>
                      <a:pt x="0" y="446235"/>
                      <a:pt x="339344" y="0"/>
                      <a:pt x="757936" y="0"/>
                    </a:cubicBezTo>
                    <a:lnTo>
                      <a:pt x="6033008" y="0"/>
                    </a:lnTo>
                    <a:lnTo>
                      <a:pt x="6033008" y="12544"/>
                    </a:lnTo>
                    <a:lnTo>
                      <a:pt x="6033008" y="0"/>
                    </a:lnTo>
                    <a:cubicBezTo>
                      <a:pt x="6451600" y="0"/>
                      <a:pt x="6790944" y="446235"/>
                      <a:pt x="6790944" y="996837"/>
                    </a:cubicBezTo>
                    <a:lnTo>
                      <a:pt x="6781419" y="996837"/>
                    </a:lnTo>
                    <a:lnTo>
                      <a:pt x="6790944" y="996837"/>
                    </a:lnTo>
                    <a:lnTo>
                      <a:pt x="6790944" y="4933674"/>
                    </a:lnTo>
                    <a:lnTo>
                      <a:pt x="6781419" y="4933674"/>
                    </a:lnTo>
                    <a:lnTo>
                      <a:pt x="6790944" y="4933674"/>
                    </a:lnTo>
                    <a:cubicBezTo>
                      <a:pt x="6790944" y="5484276"/>
                      <a:pt x="6451600" y="5930500"/>
                      <a:pt x="6033008" y="5930500"/>
                    </a:cubicBezTo>
                    <a:lnTo>
                      <a:pt x="6033008" y="5917967"/>
                    </a:lnTo>
                    <a:lnTo>
                      <a:pt x="6033008" y="5930500"/>
                    </a:lnTo>
                    <a:lnTo>
                      <a:pt x="757936" y="5930500"/>
                    </a:lnTo>
                    <a:lnTo>
                      <a:pt x="757936" y="5917967"/>
                    </a:lnTo>
                    <a:lnTo>
                      <a:pt x="757936" y="5930500"/>
                    </a:lnTo>
                    <a:cubicBezTo>
                      <a:pt x="339344" y="5930499"/>
                      <a:pt x="0" y="5484276"/>
                      <a:pt x="0" y="4933674"/>
                    </a:cubicBezTo>
                    <a:lnTo>
                      <a:pt x="0" y="996837"/>
                    </a:lnTo>
                    <a:lnTo>
                      <a:pt x="9525" y="996837"/>
                    </a:lnTo>
                    <a:lnTo>
                      <a:pt x="0" y="996837"/>
                    </a:lnTo>
                    <a:moveTo>
                      <a:pt x="19050" y="996837"/>
                    </a:moveTo>
                    <a:lnTo>
                      <a:pt x="19050" y="4933674"/>
                    </a:lnTo>
                    <a:lnTo>
                      <a:pt x="9525" y="4933674"/>
                    </a:lnTo>
                    <a:lnTo>
                      <a:pt x="19050" y="4933674"/>
                    </a:lnTo>
                    <a:cubicBezTo>
                      <a:pt x="19050" y="5470227"/>
                      <a:pt x="349885" y="5905424"/>
                      <a:pt x="757936" y="5905424"/>
                    </a:cubicBezTo>
                    <a:lnTo>
                      <a:pt x="6033008" y="5905424"/>
                    </a:lnTo>
                    <a:cubicBezTo>
                      <a:pt x="6441059" y="5905424"/>
                      <a:pt x="6771894" y="5470394"/>
                      <a:pt x="6771894" y="4933674"/>
                    </a:cubicBezTo>
                    <a:lnTo>
                      <a:pt x="6771894" y="996837"/>
                    </a:lnTo>
                    <a:cubicBezTo>
                      <a:pt x="6771894" y="460284"/>
                      <a:pt x="6441059" y="25088"/>
                      <a:pt x="6033008" y="25088"/>
                    </a:cubicBezTo>
                    <a:lnTo>
                      <a:pt x="757936" y="25088"/>
                    </a:lnTo>
                    <a:lnTo>
                      <a:pt x="757936" y="12544"/>
                    </a:lnTo>
                    <a:lnTo>
                      <a:pt x="757936" y="25088"/>
                    </a:lnTo>
                    <a:cubicBezTo>
                      <a:pt x="349885" y="25088"/>
                      <a:pt x="19050" y="460117"/>
                      <a:pt x="19050" y="996837"/>
                    </a:cubicBezTo>
                    <a:close/>
                  </a:path>
                </a:pathLst>
              </a:custGeom>
              <a:solidFill>
                <a:srgbClr val="E1E7ED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2936227" y="425793"/>
              <a:ext cx="878510" cy="878510"/>
              <a:chOff x="0" y="0"/>
              <a:chExt cx="878510" cy="87851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78459" cy="878459"/>
              </a:xfrm>
              <a:custGeom>
                <a:avLst/>
                <a:gdLst/>
                <a:ahLst/>
                <a:cxnLst/>
                <a:rect r="r" b="b" t="t" l="l"/>
                <a:pathLst>
                  <a:path h="878459" w="878459">
                    <a:moveTo>
                      <a:pt x="0" y="439293"/>
                    </a:moveTo>
                    <a:cubicBezTo>
                      <a:pt x="0" y="196723"/>
                      <a:pt x="196723" y="0"/>
                      <a:pt x="439293" y="0"/>
                    </a:cubicBezTo>
                    <a:cubicBezTo>
                      <a:pt x="681863" y="0"/>
                      <a:pt x="878459" y="196723"/>
                      <a:pt x="878459" y="439293"/>
                    </a:cubicBezTo>
                    <a:cubicBezTo>
                      <a:pt x="878459" y="681863"/>
                      <a:pt x="681863" y="878459"/>
                      <a:pt x="439293" y="878459"/>
                    </a:cubicBezTo>
                    <a:cubicBezTo>
                      <a:pt x="196723" y="878459"/>
                      <a:pt x="0" y="681863"/>
                      <a:pt x="0" y="439293"/>
                    </a:cubicBezTo>
                    <a:close/>
                  </a:path>
                </a:pathLst>
              </a:custGeom>
              <a:solidFill>
                <a:srgbClr val="3A9AB4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2936227" y="471551"/>
              <a:ext cx="878510" cy="786994"/>
              <a:chOff x="0" y="0"/>
              <a:chExt cx="878510" cy="78699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78510" cy="786999"/>
              </a:xfrm>
              <a:custGeom>
                <a:avLst/>
                <a:gdLst/>
                <a:ahLst/>
                <a:cxnLst/>
                <a:rect r="r" b="b" t="t" l="l"/>
                <a:pathLst>
                  <a:path h="786999" w="878510">
                    <a:moveTo>
                      <a:pt x="0" y="0"/>
                    </a:moveTo>
                    <a:lnTo>
                      <a:pt x="878510" y="0"/>
                    </a:lnTo>
                    <a:lnTo>
                      <a:pt x="878510" y="786999"/>
                    </a:lnTo>
                    <a:lnTo>
                      <a:pt x="0" y="786999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64937" t="0" r="-64937" b="0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0"/>
                <a:ext cx="878510" cy="78699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82"/>
                  </a:lnSpc>
                </a:pPr>
                <a:r>
                  <a:rPr lang="en-US" sz="240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02</a:t>
                </a: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936758" y="1680261"/>
              <a:ext cx="4734382" cy="1219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2"/>
                </a:lnSpc>
              </a:pPr>
              <a:r>
                <a:rPr lang="en-US" sz="3001" b="true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EdTech та мультимедіа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609981" y="3128061"/>
              <a:ext cx="5612892" cy="223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Створення сучасного освітнього контенту й розвиток цифрових інструментів.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166111" y="3120266"/>
            <a:ext cx="5093189" cy="4447846"/>
            <a:chOff x="0" y="0"/>
            <a:chExt cx="6790919" cy="5930461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6790919" cy="5930461"/>
              <a:chOff x="0" y="0"/>
              <a:chExt cx="6790919" cy="5930461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9525" y="12544"/>
                <a:ext cx="6771894" cy="5905423"/>
              </a:xfrm>
              <a:custGeom>
                <a:avLst/>
                <a:gdLst/>
                <a:ahLst/>
                <a:cxnLst/>
                <a:rect r="r" b="b" t="t" l="l"/>
                <a:pathLst>
                  <a:path h="5905423" w="6771894">
                    <a:moveTo>
                      <a:pt x="0" y="984293"/>
                    </a:moveTo>
                    <a:cubicBezTo>
                      <a:pt x="0" y="440716"/>
                      <a:pt x="335153" y="0"/>
                      <a:pt x="748411" y="0"/>
                    </a:cubicBezTo>
                    <a:lnTo>
                      <a:pt x="6023483" y="0"/>
                    </a:lnTo>
                    <a:cubicBezTo>
                      <a:pt x="6436868" y="0"/>
                      <a:pt x="6771894" y="440716"/>
                      <a:pt x="6771894" y="984293"/>
                    </a:cubicBezTo>
                    <a:lnTo>
                      <a:pt x="6771894" y="4921130"/>
                    </a:lnTo>
                    <a:cubicBezTo>
                      <a:pt x="6771894" y="5464708"/>
                      <a:pt x="6436868" y="5905423"/>
                      <a:pt x="6023483" y="5905423"/>
                    </a:cubicBezTo>
                    <a:lnTo>
                      <a:pt x="748411" y="5905423"/>
                    </a:lnTo>
                    <a:cubicBezTo>
                      <a:pt x="335153" y="5905423"/>
                      <a:pt x="0" y="5464708"/>
                      <a:pt x="0" y="4921130"/>
                    </a:cubicBezTo>
                    <a:close/>
                  </a:path>
                </a:pathLst>
              </a:custGeom>
              <a:solidFill>
                <a:srgbClr val="F4F7FA"/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790944" cy="5930500"/>
              </a:xfrm>
              <a:custGeom>
                <a:avLst/>
                <a:gdLst/>
                <a:ahLst/>
                <a:cxnLst/>
                <a:rect r="r" b="b" t="t" l="l"/>
                <a:pathLst>
                  <a:path h="5930500" w="6790944">
                    <a:moveTo>
                      <a:pt x="0" y="996837"/>
                    </a:moveTo>
                    <a:cubicBezTo>
                      <a:pt x="0" y="446235"/>
                      <a:pt x="339344" y="0"/>
                      <a:pt x="757936" y="0"/>
                    </a:cubicBezTo>
                    <a:lnTo>
                      <a:pt x="6033008" y="0"/>
                    </a:lnTo>
                    <a:lnTo>
                      <a:pt x="6033008" y="12544"/>
                    </a:lnTo>
                    <a:lnTo>
                      <a:pt x="6033008" y="0"/>
                    </a:lnTo>
                    <a:cubicBezTo>
                      <a:pt x="6451600" y="0"/>
                      <a:pt x="6790944" y="446235"/>
                      <a:pt x="6790944" y="996837"/>
                    </a:cubicBezTo>
                    <a:lnTo>
                      <a:pt x="6781419" y="996837"/>
                    </a:lnTo>
                    <a:lnTo>
                      <a:pt x="6790944" y="996837"/>
                    </a:lnTo>
                    <a:lnTo>
                      <a:pt x="6790944" y="4933674"/>
                    </a:lnTo>
                    <a:lnTo>
                      <a:pt x="6781419" y="4933674"/>
                    </a:lnTo>
                    <a:lnTo>
                      <a:pt x="6790944" y="4933674"/>
                    </a:lnTo>
                    <a:cubicBezTo>
                      <a:pt x="6790944" y="5484276"/>
                      <a:pt x="6451600" y="5930500"/>
                      <a:pt x="6033008" y="5930500"/>
                    </a:cubicBezTo>
                    <a:lnTo>
                      <a:pt x="6033008" y="5917967"/>
                    </a:lnTo>
                    <a:lnTo>
                      <a:pt x="6033008" y="5930500"/>
                    </a:lnTo>
                    <a:lnTo>
                      <a:pt x="757936" y="5930500"/>
                    </a:lnTo>
                    <a:lnTo>
                      <a:pt x="757936" y="5917967"/>
                    </a:lnTo>
                    <a:lnTo>
                      <a:pt x="757936" y="5930500"/>
                    </a:lnTo>
                    <a:cubicBezTo>
                      <a:pt x="339344" y="5930499"/>
                      <a:pt x="0" y="5484276"/>
                      <a:pt x="0" y="4933674"/>
                    </a:cubicBezTo>
                    <a:lnTo>
                      <a:pt x="0" y="996837"/>
                    </a:lnTo>
                    <a:lnTo>
                      <a:pt x="9525" y="996837"/>
                    </a:lnTo>
                    <a:lnTo>
                      <a:pt x="0" y="996837"/>
                    </a:lnTo>
                    <a:moveTo>
                      <a:pt x="19050" y="996837"/>
                    </a:moveTo>
                    <a:lnTo>
                      <a:pt x="19050" y="4933674"/>
                    </a:lnTo>
                    <a:lnTo>
                      <a:pt x="9525" y="4933674"/>
                    </a:lnTo>
                    <a:lnTo>
                      <a:pt x="19050" y="4933674"/>
                    </a:lnTo>
                    <a:cubicBezTo>
                      <a:pt x="19050" y="5470227"/>
                      <a:pt x="349885" y="5905424"/>
                      <a:pt x="757936" y="5905424"/>
                    </a:cubicBezTo>
                    <a:lnTo>
                      <a:pt x="6033008" y="5905424"/>
                    </a:lnTo>
                    <a:cubicBezTo>
                      <a:pt x="6441059" y="5905424"/>
                      <a:pt x="6771894" y="5470394"/>
                      <a:pt x="6771894" y="4933674"/>
                    </a:cubicBezTo>
                    <a:lnTo>
                      <a:pt x="6771894" y="996837"/>
                    </a:lnTo>
                    <a:cubicBezTo>
                      <a:pt x="6771894" y="460284"/>
                      <a:pt x="6441059" y="25088"/>
                      <a:pt x="6033008" y="25088"/>
                    </a:cubicBezTo>
                    <a:lnTo>
                      <a:pt x="757936" y="25088"/>
                    </a:lnTo>
                    <a:lnTo>
                      <a:pt x="757936" y="12544"/>
                    </a:lnTo>
                    <a:lnTo>
                      <a:pt x="757936" y="25088"/>
                    </a:lnTo>
                    <a:cubicBezTo>
                      <a:pt x="349885" y="25088"/>
                      <a:pt x="19050" y="460117"/>
                      <a:pt x="19050" y="996837"/>
                    </a:cubicBezTo>
                    <a:close/>
                  </a:path>
                </a:pathLst>
              </a:custGeom>
              <a:solidFill>
                <a:srgbClr val="E1E7ED"/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2956204" y="405886"/>
              <a:ext cx="878510" cy="878510"/>
              <a:chOff x="0" y="0"/>
              <a:chExt cx="878510" cy="87851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78459" cy="878459"/>
              </a:xfrm>
              <a:custGeom>
                <a:avLst/>
                <a:gdLst/>
                <a:ahLst/>
                <a:cxnLst/>
                <a:rect r="r" b="b" t="t" l="l"/>
                <a:pathLst>
                  <a:path h="878459" w="878459">
                    <a:moveTo>
                      <a:pt x="0" y="439293"/>
                    </a:moveTo>
                    <a:cubicBezTo>
                      <a:pt x="0" y="196723"/>
                      <a:pt x="196723" y="0"/>
                      <a:pt x="439293" y="0"/>
                    </a:cubicBezTo>
                    <a:cubicBezTo>
                      <a:pt x="681863" y="0"/>
                      <a:pt x="878459" y="196723"/>
                      <a:pt x="878459" y="439293"/>
                    </a:cubicBezTo>
                    <a:cubicBezTo>
                      <a:pt x="878459" y="681863"/>
                      <a:pt x="681863" y="878459"/>
                      <a:pt x="439293" y="878459"/>
                    </a:cubicBezTo>
                    <a:cubicBezTo>
                      <a:pt x="196723" y="878459"/>
                      <a:pt x="0" y="681863"/>
                      <a:pt x="0" y="439293"/>
                    </a:cubicBezTo>
                    <a:close/>
                  </a:path>
                </a:pathLst>
              </a:custGeom>
              <a:solidFill>
                <a:srgbClr val="DAA541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2956204" y="425793"/>
              <a:ext cx="878510" cy="786994"/>
              <a:chOff x="0" y="0"/>
              <a:chExt cx="878510" cy="786994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78510" cy="786999"/>
              </a:xfrm>
              <a:custGeom>
                <a:avLst/>
                <a:gdLst/>
                <a:ahLst/>
                <a:cxnLst/>
                <a:rect r="r" b="b" t="t" l="l"/>
                <a:pathLst>
                  <a:path h="786999" w="878510">
                    <a:moveTo>
                      <a:pt x="0" y="0"/>
                    </a:moveTo>
                    <a:lnTo>
                      <a:pt x="878510" y="0"/>
                    </a:lnTo>
                    <a:lnTo>
                      <a:pt x="878510" y="786999"/>
                    </a:lnTo>
                    <a:lnTo>
                      <a:pt x="0" y="786999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64937" t="0" r="-64937" b="0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0"/>
                <a:ext cx="878510" cy="78699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82"/>
                  </a:lnSpc>
                </a:pPr>
                <a:r>
                  <a:rPr lang="en-US" sz="240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03</a:t>
                </a: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028268" y="1680261"/>
              <a:ext cx="4734382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2"/>
                </a:lnSpc>
              </a:pPr>
              <a:r>
                <a:rPr lang="en-US" sz="3001" b="true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Штучний інтелект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589013" y="3128061"/>
              <a:ext cx="5612892" cy="167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Інтеграція сучасних інструментів ШІ в освітній простір Університету.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8255520" y="7930062"/>
            <a:ext cx="177695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РЕЗУЛЬТАТ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52312" y="8425362"/>
            <a:ext cx="16206988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262F3A"/>
                </a:solidFill>
                <a:latin typeface="Aptos Bold"/>
                <a:ea typeface="Aptos Bold"/>
                <a:cs typeface="Aptos Bold"/>
                <a:sym typeface="Aptos Bold"/>
              </a:rPr>
              <a:t>Масштабоване цифрове середовище, </a:t>
            </a:r>
          </a:p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262F3A"/>
                </a:solidFill>
                <a:latin typeface="Aptos Bold"/>
                <a:ea typeface="Aptos Bold"/>
                <a:cs typeface="Aptos Bold"/>
                <a:sym typeface="Aptos Bold"/>
              </a:rPr>
              <a:t>здатне швидко поширювати освітні рішення та підтримувати їх якість.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700773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19019" y="1846364"/>
            <a:ext cx="1372676" cy="75495"/>
            <a:chOff x="0" y="0"/>
            <a:chExt cx="1830235" cy="100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0197" cy="100711"/>
            </a:xfrm>
            <a:custGeom>
              <a:avLst/>
              <a:gdLst/>
              <a:ahLst/>
              <a:cxnLst/>
              <a:rect r="r" b="b" t="t" l="l"/>
              <a:pathLst>
                <a:path h="10071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488159" y="1028700"/>
            <a:ext cx="1131168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Центр цифрової освіти та освітніх технологій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00773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11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6958480"/>
            <a:ext cx="7390319" cy="2159748"/>
            <a:chOff x="0" y="0"/>
            <a:chExt cx="1946421" cy="5688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46422" cy="568823"/>
            </a:xfrm>
            <a:custGeom>
              <a:avLst/>
              <a:gdLst/>
              <a:ahLst/>
              <a:cxnLst/>
              <a:rect r="r" b="b" t="t" l="l"/>
              <a:pathLst>
                <a:path h="568823" w="1946422">
                  <a:moveTo>
                    <a:pt x="53426" y="0"/>
                  </a:moveTo>
                  <a:lnTo>
                    <a:pt x="1892995" y="0"/>
                  </a:lnTo>
                  <a:cubicBezTo>
                    <a:pt x="1922502" y="0"/>
                    <a:pt x="1946422" y="23920"/>
                    <a:pt x="1946422" y="53426"/>
                  </a:cubicBezTo>
                  <a:lnTo>
                    <a:pt x="1946422" y="515396"/>
                  </a:lnTo>
                  <a:cubicBezTo>
                    <a:pt x="1946422" y="544903"/>
                    <a:pt x="1922502" y="568823"/>
                    <a:pt x="1892995" y="568823"/>
                  </a:cubicBezTo>
                  <a:lnTo>
                    <a:pt x="53426" y="568823"/>
                  </a:lnTo>
                  <a:cubicBezTo>
                    <a:pt x="23920" y="568823"/>
                    <a:pt x="0" y="544903"/>
                    <a:pt x="0" y="515396"/>
                  </a:cubicBezTo>
                  <a:lnTo>
                    <a:pt x="0" y="53426"/>
                  </a:lnTo>
                  <a:cubicBezTo>
                    <a:pt x="0" y="23920"/>
                    <a:pt x="23920" y="0"/>
                    <a:pt x="53426" y="0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946421" cy="568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  <a:r>
                <a:rPr lang="en-US" b="true" sz="2500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РОЗУМНИЙ КАТАЛОГ ТА НАВІГАЦІЯ</a:t>
              </a:r>
            </a:p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000">
                  <a:solidFill>
                    <a:srgbClr val="192D4B"/>
                  </a:solidFill>
                  <a:latin typeface="Aptos"/>
                  <a:ea typeface="Aptos"/>
                  <a:cs typeface="Aptos"/>
                  <a:sym typeface="Aptos"/>
                </a:rPr>
                <a:t>багаторівнева фільтрація за напрямками, які наповнені структурною інформацією про курси та можливості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58340" y="2257984"/>
            <a:ext cx="7200960" cy="2159748"/>
            <a:chOff x="0" y="0"/>
            <a:chExt cx="1896549" cy="5688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96549" cy="568823"/>
            </a:xfrm>
            <a:custGeom>
              <a:avLst/>
              <a:gdLst/>
              <a:ahLst/>
              <a:cxnLst/>
              <a:rect r="r" b="b" t="t" l="l"/>
              <a:pathLst>
                <a:path h="568823" w="1896549">
                  <a:moveTo>
                    <a:pt x="54831" y="0"/>
                  </a:moveTo>
                  <a:lnTo>
                    <a:pt x="1841718" y="0"/>
                  </a:lnTo>
                  <a:cubicBezTo>
                    <a:pt x="1856260" y="0"/>
                    <a:pt x="1870207" y="5777"/>
                    <a:pt x="1880489" y="16060"/>
                  </a:cubicBezTo>
                  <a:cubicBezTo>
                    <a:pt x="1890772" y="26343"/>
                    <a:pt x="1896549" y="40289"/>
                    <a:pt x="1896549" y="54831"/>
                  </a:cubicBezTo>
                  <a:lnTo>
                    <a:pt x="1896549" y="513991"/>
                  </a:lnTo>
                  <a:cubicBezTo>
                    <a:pt x="1896549" y="528533"/>
                    <a:pt x="1890772" y="542480"/>
                    <a:pt x="1880489" y="552763"/>
                  </a:cubicBezTo>
                  <a:cubicBezTo>
                    <a:pt x="1870207" y="563046"/>
                    <a:pt x="1856260" y="568823"/>
                    <a:pt x="1841718" y="568823"/>
                  </a:cubicBezTo>
                  <a:lnTo>
                    <a:pt x="54831" y="568823"/>
                  </a:lnTo>
                  <a:cubicBezTo>
                    <a:pt x="40289" y="568823"/>
                    <a:pt x="26343" y="563046"/>
                    <a:pt x="16060" y="552763"/>
                  </a:cubicBezTo>
                  <a:cubicBezTo>
                    <a:pt x="5777" y="542480"/>
                    <a:pt x="0" y="528533"/>
                    <a:pt x="0" y="513991"/>
                  </a:cubicBezTo>
                  <a:lnTo>
                    <a:pt x="0" y="54831"/>
                  </a:lnTo>
                  <a:cubicBezTo>
                    <a:pt x="0" y="40289"/>
                    <a:pt x="5777" y="26343"/>
                    <a:pt x="16060" y="16060"/>
                  </a:cubicBezTo>
                  <a:cubicBezTo>
                    <a:pt x="26343" y="5777"/>
                    <a:pt x="40289" y="0"/>
                    <a:pt x="54831" y="0"/>
                  </a:cubicBezTo>
                  <a:close/>
                </a:path>
              </a:pathLst>
            </a:custGeom>
            <a:solidFill>
              <a:srgbClr val="2A69A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896549" cy="568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E-COMMERCE МОДУЛЬ ТА B2B-ПРОДАЖІ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миттєва онлайн оплата, розстрочка, автоматичне створення рахунків, договорів, квитанцій, звітних документів тощо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2257984"/>
            <a:ext cx="8762995" cy="2159748"/>
            <a:chOff x="0" y="0"/>
            <a:chExt cx="2307949" cy="5688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949" cy="568823"/>
            </a:xfrm>
            <a:custGeom>
              <a:avLst/>
              <a:gdLst/>
              <a:ahLst/>
              <a:cxnLst/>
              <a:rect r="r" b="b" t="t" l="l"/>
              <a:pathLst>
                <a:path h="568823" w="2307949">
                  <a:moveTo>
                    <a:pt x="45057" y="0"/>
                  </a:moveTo>
                  <a:lnTo>
                    <a:pt x="2262892" y="0"/>
                  </a:lnTo>
                  <a:cubicBezTo>
                    <a:pt x="2287777" y="0"/>
                    <a:pt x="2307949" y="20173"/>
                    <a:pt x="2307949" y="45057"/>
                  </a:cubicBezTo>
                  <a:lnTo>
                    <a:pt x="2307949" y="523765"/>
                  </a:lnTo>
                  <a:cubicBezTo>
                    <a:pt x="2307949" y="548650"/>
                    <a:pt x="2287777" y="568823"/>
                    <a:pt x="2262892" y="568823"/>
                  </a:cubicBezTo>
                  <a:lnTo>
                    <a:pt x="45057" y="568823"/>
                  </a:lnTo>
                  <a:cubicBezTo>
                    <a:pt x="20173" y="568823"/>
                    <a:pt x="0" y="548650"/>
                    <a:pt x="0" y="523765"/>
                  </a:cubicBezTo>
                  <a:lnTo>
                    <a:pt x="0" y="45057"/>
                  </a:lnTo>
                  <a:cubicBezTo>
                    <a:pt x="0" y="20173"/>
                    <a:pt x="20173" y="0"/>
                    <a:pt x="45057" y="0"/>
                  </a:cubicBezTo>
                  <a:close/>
                </a:path>
              </a:pathLst>
            </a:custGeom>
            <a:solidFill>
              <a:srgbClr val="3A9AB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307949" cy="568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ОБОВ`ЯЗКОВА ВЕРИФІКАЦІЯ СЕРТИФІКАТІВ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ІН</a:t>
              </a: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теграція з єдиним реєстром сертифікатів Університету, автоматична генерація цифрового сертифікату з унікальним qr-кодом для перевірки роботодавцями або в linkedin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2264" y="4608232"/>
            <a:ext cx="5600700" cy="2159748"/>
            <a:chOff x="0" y="0"/>
            <a:chExt cx="1475081" cy="56882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75081" cy="568823"/>
            </a:xfrm>
            <a:custGeom>
              <a:avLst/>
              <a:gdLst/>
              <a:ahLst/>
              <a:cxnLst/>
              <a:rect r="r" b="b" t="t" l="l"/>
              <a:pathLst>
                <a:path h="568823" w="1475081">
                  <a:moveTo>
                    <a:pt x="70498" y="0"/>
                  </a:moveTo>
                  <a:lnTo>
                    <a:pt x="1404584" y="0"/>
                  </a:lnTo>
                  <a:cubicBezTo>
                    <a:pt x="1443518" y="0"/>
                    <a:pt x="1475081" y="31563"/>
                    <a:pt x="1475081" y="70498"/>
                  </a:cubicBezTo>
                  <a:lnTo>
                    <a:pt x="1475081" y="498325"/>
                  </a:lnTo>
                  <a:cubicBezTo>
                    <a:pt x="1475081" y="517022"/>
                    <a:pt x="1467654" y="534953"/>
                    <a:pt x="1454433" y="548174"/>
                  </a:cubicBezTo>
                  <a:cubicBezTo>
                    <a:pt x="1441212" y="561395"/>
                    <a:pt x="1423281" y="568823"/>
                    <a:pt x="1404584" y="568823"/>
                  </a:cubicBezTo>
                  <a:lnTo>
                    <a:pt x="70498" y="568823"/>
                  </a:lnTo>
                  <a:cubicBezTo>
                    <a:pt x="31563" y="568823"/>
                    <a:pt x="0" y="537260"/>
                    <a:pt x="0" y="498325"/>
                  </a:cubicBezTo>
                  <a:lnTo>
                    <a:pt x="0" y="70498"/>
                  </a:lnTo>
                  <a:cubicBezTo>
                    <a:pt x="0" y="31563"/>
                    <a:pt x="31563" y="0"/>
                    <a:pt x="70498" y="0"/>
                  </a:cubicBezTo>
                  <a:close/>
                </a:path>
              </a:pathLst>
            </a:custGeom>
            <a:solidFill>
              <a:srgbClr val="2A69A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475081" cy="568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ІНСТРУМЕНТИ УТРИМАННЯ ТА CRM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автосповіщення в telegram/email про старт занять, рекомендаційна система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667750" y="6958480"/>
            <a:ext cx="8591550" cy="2159748"/>
            <a:chOff x="0" y="0"/>
            <a:chExt cx="2262795" cy="5688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62795" cy="568823"/>
            </a:xfrm>
            <a:custGeom>
              <a:avLst/>
              <a:gdLst/>
              <a:ahLst/>
              <a:cxnLst/>
              <a:rect r="r" b="b" t="t" l="l"/>
              <a:pathLst>
                <a:path h="568823" w="2262795">
                  <a:moveTo>
                    <a:pt x="45957" y="0"/>
                  </a:moveTo>
                  <a:lnTo>
                    <a:pt x="2216839" y="0"/>
                  </a:lnTo>
                  <a:cubicBezTo>
                    <a:pt x="2242220" y="0"/>
                    <a:pt x="2262795" y="20575"/>
                    <a:pt x="2262795" y="45957"/>
                  </a:cubicBezTo>
                  <a:lnTo>
                    <a:pt x="2262795" y="522866"/>
                  </a:lnTo>
                  <a:cubicBezTo>
                    <a:pt x="2262795" y="548247"/>
                    <a:pt x="2242220" y="568823"/>
                    <a:pt x="2216839" y="568823"/>
                  </a:cubicBezTo>
                  <a:lnTo>
                    <a:pt x="45957" y="568823"/>
                  </a:lnTo>
                  <a:cubicBezTo>
                    <a:pt x="20575" y="568823"/>
                    <a:pt x="0" y="548247"/>
                    <a:pt x="0" y="522866"/>
                  </a:cubicBezTo>
                  <a:lnTo>
                    <a:pt x="0" y="45957"/>
                  </a:lnTo>
                  <a:cubicBezTo>
                    <a:pt x="0" y="20575"/>
                    <a:pt x="20575" y="0"/>
                    <a:pt x="45957" y="0"/>
                  </a:cubicBezTo>
                  <a:close/>
                </a:path>
              </a:pathLst>
            </a:custGeom>
            <a:solidFill>
              <a:srgbClr val="2A69A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262795" cy="568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БЕНЧМАРКІНГ РИНКОВИХ ЛІДЕРІВ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П</a:t>
              </a: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ереймаємо досвід платформ Prometheus, Laba та Coursera у частині гейміфікації навчання, інтерактивних дедлайнів, гнучких модулів та побудови ком'юнити слухачів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42989" y="4684432"/>
            <a:ext cx="10429875" cy="2083548"/>
            <a:chOff x="0" y="0"/>
            <a:chExt cx="2746963" cy="54875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46963" cy="548753"/>
            </a:xfrm>
            <a:custGeom>
              <a:avLst/>
              <a:gdLst/>
              <a:ahLst/>
              <a:cxnLst/>
              <a:rect r="r" b="b" t="t" l="l"/>
              <a:pathLst>
                <a:path h="548753" w="2746963">
                  <a:moveTo>
                    <a:pt x="37856" y="0"/>
                  </a:moveTo>
                  <a:lnTo>
                    <a:pt x="2709107" y="0"/>
                  </a:lnTo>
                  <a:cubicBezTo>
                    <a:pt x="2719147" y="0"/>
                    <a:pt x="2728776" y="3988"/>
                    <a:pt x="2735875" y="11088"/>
                  </a:cubicBezTo>
                  <a:cubicBezTo>
                    <a:pt x="2742974" y="18187"/>
                    <a:pt x="2746963" y="27816"/>
                    <a:pt x="2746963" y="37856"/>
                  </a:cubicBezTo>
                  <a:lnTo>
                    <a:pt x="2746963" y="510897"/>
                  </a:lnTo>
                  <a:cubicBezTo>
                    <a:pt x="2746963" y="531805"/>
                    <a:pt x="2730014" y="548753"/>
                    <a:pt x="2709107" y="548753"/>
                  </a:cubicBezTo>
                  <a:lnTo>
                    <a:pt x="37856" y="548753"/>
                  </a:lnTo>
                  <a:cubicBezTo>
                    <a:pt x="16949" y="548753"/>
                    <a:pt x="0" y="531805"/>
                    <a:pt x="0" y="510897"/>
                  </a:cubicBezTo>
                  <a:lnTo>
                    <a:pt x="0" y="37856"/>
                  </a:lnTo>
                  <a:cubicBezTo>
                    <a:pt x="0" y="16949"/>
                    <a:pt x="16949" y="0"/>
                    <a:pt x="37856" y="0"/>
                  </a:cubicBezTo>
                  <a:close/>
                </a:path>
              </a:pathLst>
            </a:custGeom>
            <a:solidFill>
              <a:srgbClr val="DAA54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746963" cy="548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  <a:r>
                <a:rPr lang="en-US" b="true" sz="2500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СУЧАСНИЙ ТЕХНОЛОГІЧНИЙ СТЕК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92D4B"/>
                  </a:solidFill>
                  <a:latin typeface="Aptos"/>
                  <a:ea typeface="Aptos"/>
                  <a:cs typeface="Aptos"/>
                  <a:sym typeface="Aptos"/>
                </a:rPr>
                <a:t>ВИСОКОЕФЕКТИВНИЙ БЕКЕНД (ТЕХНІЧНА ЧАСТИНА ВЕБ-РЕСУРСУ) НА NODE.JS/PYTHON (DJANGO), АДАПТИВНИЙ ФРОНТЕНД (ЗОВНІШНЯ, ВІЗУАЛЬНА ЧАСТИНА ВЕБ-РЕСУРСУ) НА REACT/NEXT.JS З MOBILE-FIRST АРХІТЕКТУРОЮ, ІНФРАСТРУКТУРА НА БАЗІ ХМАРНИХ РІШЕНЬ З ВИСОКИМ РІВНЕМ БЕЗПЕКИ ДАНИХ (GDPR/ЗУ «ПРО ЗАХИСТ ПЕРСОНАЛЬНИХ ДАНИХ»)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19019" y="1846364"/>
            <a:ext cx="1372676" cy="75495"/>
            <a:chOff x="0" y="0"/>
            <a:chExt cx="1830235" cy="100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0197" cy="100711"/>
            </a:xfrm>
            <a:custGeom>
              <a:avLst/>
              <a:gdLst/>
              <a:ahLst/>
              <a:cxnLst/>
              <a:rect r="r" b="b" t="t" l="l"/>
              <a:pathLst>
                <a:path h="10071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488159" y="1028700"/>
            <a:ext cx="1131168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Центр цифрової освіти та освітніх технологій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00773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12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23183" y="5762625"/>
            <a:ext cx="7849681" cy="3495675"/>
            <a:chOff x="0" y="0"/>
            <a:chExt cx="2067406" cy="920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7406" cy="920672"/>
            </a:xfrm>
            <a:custGeom>
              <a:avLst/>
              <a:gdLst/>
              <a:ahLst/>
              <a:cxnLst/>
              <a:rect r="r" b="b" t="t" l="l"/>
              <a:pathLst>
                <a:path h="920672" w="2067406">
                  <a:moveTo>
                    <a:pt x="50300" y="0"/>
                  </a:moveTo>
                  <a:lnTo>
                    <a:pt x="2017106" y="0"/>
                  </a:lnTo>
                  <a:cubicBezTo>
                    <a:pt x="2030446" y="0"/>
                    <a:pt x="2043240" y="5299"/>
                    <a:pt x="2052673" y="14732"/>
                  </a:cubicBezTo>
                  <a:cubicBezTo>
                    <a:pt x="2062106" y="24166"/>
                    <a:pt x="2067406" y="36960"/>
                    <a:pt x="2067406" y="50300"/>
                  </a:cubicBezTo>
                  <a:lnTo>
                    <a:pt x="2067406" y="870372"/>
                  </a:lnTo>
                  <a:cubicBezTo>
                    <a:pt x="2067406" y="883712"/>
                    <a:pt x="2062106" y="896506"/>
                    <a:pt x="2052673" y="905939"/>
                  </a:cubicBezTo>
                  <a:cubicBezTo>
                    <a:pt x="2043240" y="915372"/>
                    <a:pt x="2030446" y="920672"/>
                    <a:pt x="2017106" y="920672"/>
                  </a:cubicBezTo>
                  <a:lnTo>
                    <a:pt x="50300" y="920672"/>
                  </a:lnTo>
                  <a:cubicBezTo>
                    <a:pt x="36960" y="920672"/>
                    <a:pt x="24166" y="915372"/>
                    <a:pt x="14732" y="905939"/>
                  </a:cubicBezTo>
                  <a:cubicBezTo>
                    <a:pt x="5299" y="896506"/>
                    <a:pt x="0" y="883712"/>
                    <a:pt x="0" y="870372"/>
                  </a:cubicBezTo>
                  <a:lnTo>
                    <a:pt x="0" y="50300"/>
                  </a:lnTo>
                  <a:cubicBezTo>
                    <a:pt x="0" y="36960"/>
                    <a:pt x="5299" y="24166"/>
                    <a:pt x="14732" y="14732"/>
                  </a:cubicBezTo>
                  <a:cubicBezTo>
                    <a:pt x="24166" y="5299"/>
                    <a:pt x="36960" y="0"/>
                    <a:pt x="50300" y="0"/>
                  </a:cubicBezTo>
                  <a:close/>
                </a:path>
              </a:pathLst>
            </a:custGeom>
            <a:solidFill>
              <a:srgbClr val="DAA54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067406" cy="92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МУЛЬТИМЕДІЙНИЙ ХАБ І ЗАХИСТ АВТОРСЬКОГО КОНТЕНТУ  (_АНТИПІРАТСТВО_ANTI-PIRACY)</a:t>
              </a:r>
            </a:p>
            <a:p>
              <a:pPr algn="ctr">
                <a:lnSpc>
                  <a:spcPts val="3000"/>
                </a:lnSpc>
              </a:pP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ПРОЄКТУВАННЯ ЗАХИЩЕНОГО МУЛЬТИМЕДІЙНОГО ХАБУ ІЗ ТЕХНОЛОГІЄЮ ADAPTIVE BITRATE STREAMING ДЛЯ ПЛАВНОГО ВІДТВОРЕННЯ ВІДЕО, НАВІТЬ ПРИ СЛАБКОМУ ІНТЕРНЕТІ, - ДЛЯ ЗАХИСТУ ВІД ПІРАТСТВА ВПРОВАДЖУЄТЬСЯ СИСТЕМА DRM-ШИФРУВАННЯ ТА ДИНАМІЧНИХ ВОДЯНИХ ЗНАКІВ*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5762625"/>
            <a:ext cx="8115300" cy="3495675"/>
            <a:chOff x="0" y="0"/>
            <a:chExt cx="2137363" cy="920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37363" cy="920672"/>
            </a:xfrm>
            <a:custGeom>
              <a:avLst/>
              <a:gdLst/>
              <a:ahLst/>
              <a:cxnLst/>
              <a:rect r="r" b="b" t="t" l="l"/>
              <a:pathLst>
                <a:path h="920672" w="2137363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872018"/>
                  </a:lnTo>
                  <a:cubicBezTo>
                    <a:pt x="2137363" y="898889"/>
                    <a:pt x="2115580" y="920672"/>
                    <a:pt x="2088710" y="920672"/>
                  </a:cubicBezTo>
                  <a:lnTo>
                    <a:pt x="48654" y="920672"/>
                  </a:lnTo>
                  <a:cubicBezTo>
                    <a:pt x="21783" y="920672"/>
                    <a:pt x="0" y="898889"/>
                    <a:pt x="0" y="872018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2A69A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137363" cy="92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КОНВЕРС</a:t>
              </a:r>
              <a:r>
                <a:rPr lang="en-US" b="true" sz="250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ІЙНИЙ ЛЕНДІНГ </a:t>
              </a:r>
            </a:p>
            <a:p>
              <a:pPr algn="ctr">
                <a:lnSpc>
                  <a:spcPts val="30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ТА ПРОДУКТОВА УПАКОВКА</a:t>
              </a:r>
            </a:p>
            <a:p>
              <a:pPr algn="ctr">
                <a:lnSpc>
                  <a:spcPts val="3000"/>
                </a:lnSpc>
              </a:pP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З</a:t>
              </a: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апровадження повної відмови від класичних, перевантажених текстом академічних сторінок на користь конверсійних лендінгів, 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що будуть прозорими відповідниками складній інформації для швидкого засвоєння користувачем (споживачем)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558433" y="2296084"/>
            <a:ext cx="6700867" cy="3304616"/>
            <a:chOff x="0" y="0"/>
            <a:chExt cx="1764838" cy="8703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64838" cy="870352"/>
            </a:xfrm>
            <a:custGeom>
              <a:avLst/>
              <a:gdLst/>
              <a:ahLst/>
              <a:cxnLst/>
              <a:rect r="r" b="b" t="t" l="l"/>
              <a:pathLst>
                <a:path h="870352" w="1764838">
                  <a:moveTo>
                    <a:pt x="58923" y="0"/>
                  </a:moveTo>
                  <a:lnTo>
                    <a:pt x="1705914" y="0"/>
                  </a:lnTo>
                  <a:cubicBezTo>
                    <a:pt x="1721542" y="0"/>
                    <a:pt x="1736529" y="6208"/>
                    <a:pt x="1747579" y="17258"/>
                  </a:cubicBezTo>
                  <a:cubicBezTo>
                    <a:pt x="1758630" y="28309"/>
                    <a:pt x="1764838" y="43296"/>
                    <a:pt x="1764838" y="58923"/>
                  </a:cubicBezTo>
                  <a:lnTo>
                    <a:pt x="1764838" y="811428"/>
                  </a:lnTo>
                  <a:cubicBezTo>
                    <a:pt x="1764838" y="843971"/>
                    <a:pt x="1738457" y="870352"/>
                    <a:pt x="1705914" y="870352"/>
                  </a:cubicBezTo>
                  <a:lnTo>
                    <a:pt x="58923" y="870352"/>
                  </a:lnTo>
                  <a:cubicBezTo>
                    <a:pt x="43296" y="870352"/>
                    <a:pt x="28309" y="864144"/>
                    <a:pt x="17258" y="853093"/>
                  </a:cubicBezTo>
                  <a:cubicBezTo>
                    <a:pt x="6208" y="842043"/>
                    <a:pt x="0" y="827056"/>
                    <a:pt x="0" y="811428"/>
                  </a:cubicBezTo>
                  <a:lnTo>
                    <a:pt x="0" y="58923"/>
                  </a:lnTo>
                  <a:cubicBezTo>
                    <a:pt x="0" y="43296"/>
                    <a:pt x="6208" y="28309"/>
                    <a:pt x="17258" y="17258"/>
                  </a:cubicBezTo>
                  <a:cubicBezTo>
                    <a:pt x="28309" y="6208"/>
                    <a:pt x="43296" y="0"/>
                    <a:pt x="58923" y="0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764838" cy="870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  <a:r>
                <a:rPr lang="en-US" b="true" sz="2500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b="true" sz="2500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архітект</a:t>
              </a:r>
              <a:r>
                <a:rPr lang="en-US" b="true" sz="2500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УРА ОСОБИСТОГО КАБІНЕТУ (КОНЦЕПЦІЯ LMS-LIGHT)</a:t>
              </a:r>
            </a:p>
            <a:p>
              <a:pPr algn="ctr">
                <a:lnSpc>
                  <a:spcPts val="3000"/>
                </a:lnSpc>
              </a:pP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92D4B"/>
                  </a:solidFill>
                  <a:latin typeface="Aptos"/>
                  <a:ea typeface="Aptos"/>
                  <a:cs typeface="Aptos"/>
                  <a:sym typeface="Aptos"/>
                </a:rPr>
                <a:t>С</a:t>
              </a:r>
              <a:r>
                <a:rPr lang="en-US" sz="2000">
                  <a:solidFill>
                    <a:srgbClr val="192D4B"/>
                  </a:solidFill>
                  <a:latin typeface="Aptos"/>
                  <a:ea typeface="Aptos"/>
                  <a:cs typeface="Aptos"/>
                  <a:sym typeface="Aptos"/>
                </a:rPr>
                <a:t>ВІДОМЕ ВИКЛЮЧЕННЯ ІНТЕГРАЦІЇ ВАЖКИХ ТА ЗАСТАРІЛИХ СИСТЕМ УПРАВЛІННЯ НАВЧАННЯМ, ЗАМІНЮЮЧИ ЇХ НА КОНЦЕПЦІЮ LMS-LIGHT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2296084"/>
            <a:ext cx="9353545" cy="3304616"/>
            <a:chOff x="0" y="0"/>
            <a:chExt cx="2463485" cy="8703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63485" cy="870352"/>
            </a:xfrm>
            <a:custGeom>
              <a:avLst/>
              <a:gdLst/>
              <a:ahLst/>
              <a:cxnLst/>
              <a:rect r="r" b="b" t="t" l="l"/>
              <a:pathLst>
                <a:path h="870352" w="2463485">
                  <a:moveTo>
                    <a:pt x="42213" y="0"/>
                  </a:moveTo>
                  <a:lnTo>
                    <a:pt x="2421272" y="0"/>
                  </a:lnTo>
                  <a:cubicBezTo>
                    <a:pt x="2432468" y="0"/>
                    <a:pt x="2443205" y="4447"/>
                    <a:pt x="2451121" y="12364"/>
                  </a:cubicBezTo>
                  <a:cubicBezTo>
                    <a:pt x="2459038" y="20280"/>
                    <a:pt x="2463485" y="31017"/>
                    <a:pt x="2463485" y="42213"/>
                  </a:cubicBezTo>
                  <a:lnTo>
                    <a:pt x="2463485" y="828139"/>
                  </a:lnTo>
                  <a:cubicBezTo>
                    <a:pt x="2463485" y="839334"/>
                    <a:pt x="2459038" y="850071"/>
                    <a:pt x="2451121" y="857988"/>
                  </a:cubicBezTo>
                  <a:cubicBezTo>
                    <a:pt x="2443205" y="865904"/>
                    <a:pt x="2432468" y="870352"/>
                    <a:pt x="2421272" y="870352"/>
                  </a:cubicBezTo>
                  <a:lnTo>
                    <a:pt x="42213" y="870352"/>
                  </a:lnTo>
                  <a:cubicBezTo>
                    <a:pt x="31017" y="870352"/>
                    <a:pt x="20280" y="865904"/>
                    <a:pt x="12364" y="857988"/>
                  </a:cubicBezTo>
                  <a:cubicBezTo>
                    <a:pt x="4447" y="850071"/>
                    <a:pt x="0" y="839334"/>
                    <a:pt x="0" y="828139"/>
                  </a:cubicBezTo>
                  <a:lnTo>
                    <a:pt x="0" y="42213"/>
                  </a:lnTo>
                  <a:cubicBezTo>
                    <a:pt x="0" y="31017"/>
                    <a:pt x="4447" y="20280"/>
                    <a:pt x="12364" y="12364"/>
                  </a:cubicBezTo>
                  <a:cubicBezTo>
                    <a:pt x="20280" y="4447"/>
                    <a:pt x="31017" y="0"/>
                    <a:pt x="42213" y="0"/>
                  </a:cubicBezTo>
                  <a:close/>
                </a:path>
              </a:pathLst>
            </a:custGeom>
            <a:solidFill>
              <a:srgbClr val="3A9AB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463485" cy="870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АНАЛ</a:t>
              </a:r>
              <a:r>
                <a:rPr lang="en-US" b="true" sz="250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ІТИЧНИЙ КОНТУР </a:t>
              </a:r>
            </a:p>
            <a:p>
              <a:pPr algn="ctr">
                <a:lnSpc>
                  <a:spcPts val="30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ДЛЯ ПРИЙНЯТТЯ УПРАВЛІНСЬКИХ РІШЕНЬ</a:t>
              </a:r>
            </a:p>
            <a:p>
              <a:pPr algn="ctr">
                <a:lnSpc>
                  <a:spcPts val="3000"/>
                </a:lnSpc>
              </a:pP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ПЛ</a:t>
              </a: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атформа буде не просто веб-сайтом, а бізнес-інструментом з інтегрованими освітніми рішеннями, за рахунок аналітичного модулю; функціонал розроблено спеціально під завдання Центру моніторингу, аналітики та розвитку освітніх екосистем для відстеження якості освітніх програм 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та аналітики потреб ринку праці*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07017" y="1028700"/>
            <a:ext cx="8873966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Ключова модель діяльності Інституту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69364" y="2255749"/>
            <a:ext cx="1166774" cy="1166774"/>
            <a:chOff x="0" y="0"/>
            <a:chExt cx="1555699" cy="15556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5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1555750">
                  <a:moveTo>
                    <a:pt x="0" y="777875"/>
                  </a:moveTo>
                  <a:cubicBezTo>
                    <a:pt x="0" y="348234"/>
                    <a:pt x="348234" y="0"/>
                    <a:pt x="777875" y="0"/>
                  </a:cubicBezTo>
                  <a:cubicBezTo>
                    <a:pt x="1207516" y="0"/>
                    <a:pt x="1555750" y="348234"/>
                    <a:pt x="1555750" y="777875"/>
                  </a:cubicBezTo>
                  <a:cubicBezTo>
                    <a:pt x="1555750" y="1207516"/>
                    <a:pt x="1207389" y="1555750"/>
                    <a:pt x="777875" y="1555750"/>
                  </a:cubicBezTo>
                  <a:cubicBezTo>
                    <a:pt x="348361" y="1555750"/>
                    <a:pt x="0" y="1207389"/>
                    <a:pt x="0" y="777875"/>
                  </a:cubicBezTo>
                  <a:close/>
                </a:path>
              </a:pathLst>
            </a:custGeom>
            <a:solidFill>
              <a:srgbClr val="2A69A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69364" y="2598920"/>
            <a:ext cx="1166774" cy="480435"/>
            <a:chOff x="0" y="0"/>
            <a:chExt cx="1555699" cy="6405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5695" cy="640586"/>
            </a:xfrm>
            <a:custGeom>
              <a:avLst/>
              <a:gdLst/>
              <a:ahLst/>
              <a:cxnLst/>
              <a:rect r="r" b="b" t="t" l="l"/>
              <a:pathLst>
                <a:path h="640586" w="1555695">
                  <a:moveTo>
                    <a:pt x="0" y="0"/>
                  </a:moveTo>
                  <a:lnTo>
                    <a:pt x="1555695" y="0"/>
                  </a:lnTo>
                  <a:lnTo>
                    <a:pt x="1555695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30" t="0" r="-2830" b="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555699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02"/>
                </a:lnSpc>
              </a:pPr>
              <a:r>
                <a:rPr lang="en-US" sz="25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31299" y="3585858"/>
            <a:ext cx="304290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ВИЯВИТИ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4398" y="4049497"/>
            <a:ext cx="2676706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CDD8E4"/>
                </a:solidFill>
                <a:latin typeface="Aptos"/>
                <a:ea typeface="Aptos"/>
                <a:cs typeface="Aptos"/>
                <a:sym typeface="Aptos"/>
              </a:rPr>
              <a:t>ринок праці та суспільні виклики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674235" y="3883390"/>
            <a:ext cx="754971" cy="480431"/>
            <a:chOff x="0" y="0"/>
            <a:chExt cx="1006627" cy="6405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6602" cy="640588"/>
            </a:xfrm>
            <a:custGeom>
              <a:avLst/>
              <a:gdLst/>
              <a:ahLst/>
              <a:cxnLst/>
              <a:rect r="r" b="b" t="t" l="l"/>
              <a:pathLst>
                <a:path h="640588" w="1006602">
                  <a:moveTo>
                    <a:pt x="0" y="160147"/>
                  </a:moveTo>
                  <a:lnTo>
                    <a:pt x="686308" y="160147"/>
                  </a:lnTo>
                  <a:lnTo>
                    <a:pt x="686308" y="0"/>
                  </a:lnTo>
                  <a:lnTo>
                    <a:pt x="1006602" y="320294"/>
                  </a:lnTo>
                  <a:lnTo>
                    <a:pt x="686308" y="640588"/>
                  </a:lnTo>
                  <a:lnTo>
                    <a:pt x="686308" y="480441"/>
                  </a:lnTo>
                  <a:lnTo>
                    <a:pt x="0" y="48044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164988" y="2255751"/>
            <a:ext cx="1166774" cy="1166774"/>
            <a:chOff x="0" y="0"/>
            <a:chExt cx="1555699" cy="15556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5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1555750">
                  <a:moveTo>
                    <a:pt x="0" y="777875"/>
                  </a:moveTo>
                  <a:cubicBezTo>
                    <a:pt x="0" y="348234"/>
                    <a:pt x="348234" y="0"/>
                    <a:pt x="777875" y="0"/>
                  </a:cubicBezTo>
                  <a:cubicBezTo>
                    <a:pt x="1207516" y="0"/>
                    <a:pt x="1555750" y="348234"/>
                    <a:pt x="1555750" y="777875"/>
                  </a:cubicBezTo>
                  <a:cubicBezTo>
                    <a:pt x="1555750" y="1207516"/>
                    <a:pt x="1207389" y="1555750"/>
                    <a:pt x="777875" y="1555750"/>
                  </a:cubicBezTo>
                  <a:cubicBezTo>
                    <a:pt x="348361" y="1555750"/>
                    <a:pt x="0" y="1207389"/>
                    <a:pt x="0" y="777875"/>
                  </a:cubicBezTo>
                  <a:close/>
                </a:path>
              </a:pathLst>
            </a:custGeom>
            <a:solidFill>
              <a:srgbClr val="3A9AB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164988" y="2598916"/>
            <a:ext cx="1166774" cy="480435"/>
            <a:chOff x="0" y="0"/>
            <a:chExt cx="1555699" cy="6405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55695" cy="640586"/>
            </a:xfrm>
            <a:custGeom>
              <a:avLst/>
              <a:gdLst/>
              <a:ahLst/>
              <a:cxnLst/>
              <a:rect r="r" b="b" t="t" l="l"/>
              <a:pathLst>
                <a:path h="640586" w="1555695">
                  <a:moveTo>
                    <a:pt x="0" y="0"/>
                  </a:moveTo>
                  <a:lnTo>
                    <a:pt x="1555695" y="0"/>
                  </a:lnTo>
                  <a:lnTo>
                    <a:pt x="1555695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30" t="0" r="-2830" b="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555699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02"/>
                </a:lnSpc>
              </a:pPr>
              <a:r>
                <a:rPr lang="en-US" sz="25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227219" y="3585858"/>
            <a:ext cx="304290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РОЗРОБИТИ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14956" y="4049497"/>
            <a:ext cx="206743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CDD8E4"/>
                </a:solidFill>
                <a:latin typeface="Aptos"/>
                <a:ea typeface="Aptos"/>
                <a:cs typeface="Aptos"/>
                <a:sym typeface="Aptos"/>
              </a:rPr>
              <a:t>актуальну освітню програму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066470" y="3818806"/>
            <a:ext cx="754971" cy="480431"/>
            <a:chOff x="0" y="0"/>
            <a:chExt cx="1006627" cy="6405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6602" cy="640588"/>
            </a:xfrm>
            <a:custGeom>
              <a:avLst/>
              <a:gdLst/>
              <a:ahLst/>
              <a:cxnLst/>
              <a:rect r="r" b="b" t="t" l="l"/>
              <a:pathLst>
                <a:path h="640588" w="1006602">
                  <a:moveTo>
                    <a:pt x="0" y="160147"/>
                  </a:moveTo>
                  <a:lnTo>
                    <a:pt x="686308" y="160147"/>
                  </a:lnTo>
                  <a:lnTo>
                    <a:pt x="686308" y="0"/>
                  </a:lnTo>
                  <a:lnTo>
                    <a:pt x="1006602" y="320294"/>
                  </a:lnTo>
                  <a:lnTo>
                    <a:pt x="686308" y="640588"/>
                  </a:lnTo>
                  <a:lnTo>
                    <a:pt x="686308" y="480441"/>
                  </a:lnTo>
                  <a:lnTo>
                    <a:pt x="0" y="48044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560613" y="2255749"/>
            <a:ext cx="1166774" cy="1166774"/>
            <a:chOff x="0" y="0"/>
            <a:chExt cx="1555699" cy="15556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55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1555750">
                  <a:moveTo>
                    <a:pt x="0" y="777875"/>
                  </a:moveTo>
                  <a:cubicBezTo>
                    <a:pt x="0" y="348234"/>
                    <a:pt x="348234" y="0"/>
                    <a:pt x="777875" y="0"/>
                  </a:cubicBezTo>
                  <a:cubicBezTo>
                    <a:pt x="1207516" y="0"/>
                    <a:pt x="1555750" y="348234"/>
                    <a:pt x="1555750" y="777875"/>
                  </a:cubicBezTo>
                  <a:cubicBezTo>
                    <a:pt x="1555750" y="1207516"/>
                    <a:pt x="1207389" y="1555750"/>
                    <a:pt x="777875" y="1555750"/>
                  </a:cubicBezTo>
                  <a:cubicBezTo>
                    <a:pt x="348361" y="1555750"/>
                    <a:pt x="0" y="1207389"/>
                    <a:pt x="0" y="777875"/>
                  </a:cubicBezTo>
                  <a:close/>
                </a:path>
              </a:pathLst>
            </a:custGeom>
            <a:solidFill>
              <a:srgbClr val="DAA54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560622" y="2598920"/>
            <a:ext cx="1166765" cy="480431"/>
            <a:chOff x="0" y="0"/>
            <a:chExt cx="1555699" cy="6405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55695" cy="640586"/>
            </a:xfrm>
            <a:custGeom>
              <a:avLst/>
              <a:gdLst/>
              <a:ahLst/>
              <a:cxnLst/>
              <a:rect r="r" b="b" t="t" l="l"/>
              <a:pathLst>
                <a:path h="640586" w="1555695">
                  <a:moveTo>
                    <a:pt x="0" y="0"/>
                  </a:moveTo>
                  <a:lnTo>
                    <a:pt x="1555695" y="0"/>
                  </a:lnTo>
                  <a:lnTo>
                    <a:pt x="1555695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30" t="0" r="-2830" b="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555699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02"/>
                </a:lnSpc>
              </a:pPr>
              <a:r>
                <a:rPr lang="en-US" sz="25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622548" y="3585858"/>
            <a:ext cx="304290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МАСШТАБУВАТИ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91185" y="4049497"/>
            <a:ext cx="290563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CDD8E4"/>
                </a:solidFill>
                <a:latin typeface="Aptos"/>
                <a:ea typeface="Aptos"/>
                <a:cs typeface="Aptos"/>
                <a:sym typeface="Aptos"/>
              </a:rPr>
              <a:t>цифрові та гнучкі формати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596815" y="3818806"/>
            <a:ext cx="754971" cy="480431"/>
            <a:chOff x="0" y="0"/>
            <a:chExt cx="1006627" cy="6405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6602" cy="640588"/>
            </a:xfrm>
            <a:custGeom>
              <a:avLst/>
              <a:gdLst/>
              <a:ahLst/>
              <a:cxnLst/>
              <a:rect r="r" b="b" t="t" l="l"/>
              <a:pathLst>
                <a:path h="640588" w="1006602">
                  <a:moveTo>
                    <a:pt x="0" y="160147"/>
                  </a:moveTo>
                  <a:lnTo>
                    <a:pt x="686308" y="160147"/>
                  </a:lnTo>
                  <a:lnTo>
                    <a:pt x="686308" y="0"/>
                  </a:lnTo>
                  <a:lnTo>
                    <a:pt x="1006602" y="320294"/>
                  </a:lnTo>
                  <a:lnTo>
                    <a:pt x="686308" y="640588"/>
                  </a:lnTo>
                  <a:lnTo>
                    <a:pt x="686308" y="480441"/>
                  </a:lnTo>
                  <a:lnTo>
                    <a:pt x="0" y="48044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951772" y="2255749"/>
            <a:ext cx="1166774" cy="1166774"/>
            <a:chOff x="0" y="0"/>
            <a:chExt cx="1555699" cy="155569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55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1555750">
                  <a:moveTo>
                    <a:pt x="0" y="777875"/>
                  </a:moveTo>
                  <a:cubicBezTo>
                    <a:pt x="0" y="348234"/>
                    <a:pt x="348234" y="0"/>
                    <a:pt x="777875" y="0"/>
                  </a:cubicBezTo>
                  <a:cubicBezTo>
                    <a:pt x="1207516" y="0"/>
                    <a:pt x="1555750" y="348234"/>
                    <a:pt x="1555750" y="777875"/>
                  </a:cubicBezTo>
                  <a:cubicBezTo>
                    <a:pt x="1555750" y="1207516"/>
                    <a:pt x="1207389" y="1555750"/>
                    <a:pt x="777875" y="1555750"/>
                  </a:cubicBezTo>
                  <a:cubicBezTo>
                    <a:pt x="348361" y="1555750"/>
                    <a:pt x="0" y="1207389"/>
                    <a:pt x="0" y="777875"/>
                  </a:cubicBezTo>
                  <a:close/>
                </a:path>
              </a:pathLst>
            </a:custGeom>
            <a:solidFill>
              <a:srgbClr val="458967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951772" y="2598920"/>
            <a:ext cx="1166774" cy="480435"/>
            <a:chOff x="0" y="0"/>
            <a:chExt cx="1555699" cy="6405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55695" cy="640586"/>
            </a:xfrm>
            <a:custGeom>
              <a:avLst/>
              <a:gdLst/>
              <a:ahLst/>
              <a:cxnLst/>
              <a:rect r="r" b="b" t="t" l="l"/>
              <a:pathLst>
                <a:path h="640586" w="1555695">
                  <a:moveTo>
                    <a:pt x="0" y="0"/>
                  </a:moveTo>
                  <a:lnTo>
                    <a:pt x="1555695" y="0"/>
                  </a:lnTo>
                  <a:lnTo>
                    <a:pt x="1555695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30" t="0" r="-2830" b="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555699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02"/>
                </a:lnSpc>
              </a:pPr>
              <a:r>
                <a:rPr lang="en-US" sz="25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1013707" y="3585858"/>
            <a:ext cx="304290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ВИМІРЯТИ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588408" y="4049497"/>
            <a:ext cx="2050471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CDD8E4"/>
                </a:solidFill>
                <a:latin typeface="Aptos"/>
                <a:ea typeface="Aptos"/>
                <a:cs typeface="Aptos"/>
                <a:sym typeface="Aptos"/>
              </a:rPr>
              <a:t>якість і результативність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3875501" y="3818806"/>
            <a:ext cx="754971" cy="480431"/>
            <a:chOff x="0" y="0"/>
            <a:chExt cx="1006627" cy="64057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6602" cy="640588"/>
            </a:xfrm>
            <a:custGeom>
              <a:avLst/>
              <a:gdLst/>
              <a:ahLst/>
              <a:cxnLst/>
              <a:rect r="r" b="b" t="t" l="l"/>
              <a:pathLst>
                <a:path h="640588" w="1006602">
                  <a:moveTo>
                    <a:pt x="0" y="160147"/>
                  </a:moveTo>
                  <a:lnTo>
                    <a:pt x="686308" y="160147"/>
                  </a:lnTo>
                  <a:lnTo>
                    <a:pt x="686308" y="0"/>
                  </a:lnTo>
                  <a:lnTo>
                    <a:pt x="1006602" y="320294"/>
                  </a:lnTo>
                  <a:lnTo>
                    <a:pt x="686308" y="640588"/>
                  </a:lnTo>
                  <a:lnTo>
                    <a:pt x="686308" y="480441"/>
                  </a:lnTo>
                  <a:lnTo>
                    <a:pt x="0" y="48044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5342931" y="2255749"/>
            <a:ext cx="1166774" cy="1166774"/>
            <a:chOff x="0" y="0"/>
            <a:chExt cx="1555699" cy="155569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55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1555750">
                  <a:moveTo>
                    <a:pt x="0" y="777875"/>
                  </a:moveTo>
                  <a:cubicBezTo>
                    <a:pt x="0" y="348234"/>
                    <a:pt x="348234" y="0"/>
                    <a:pt x="777875" y="0"/>
                  </a:cubicBezTo>
                  <a:cubicBezTo>
                    <a:pt x="1207516" y="0"/>
                    <a:pt x="1555750" y="348234"/>
                    <a:pt x="1555750" y="777875"/>
                  </a:cubicBezTo>
                  <a:cubicBezTo>
                    <a:pt x="1555750" y="1207516"/>
                    <a:pt x="1207389" y="1555750"/>
                    <a:pt x="777875" y="1555750"/>
                  </a:cubicBezTo>
                  <a:cubicBezTo>
                    <a:pt x="348361" y="1555750"/>
                    <a:pt x="0" y="1207389"/>
                    <a:pt x="0" y="777875"/>
                  </a:cubicBezTo>
                  <a:close/>
                </a:path>
              </a:pathLst>
            </a:custGeom>
            <a:solidFill>
              <a:srgbClr val="2A69A5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342931" y="2598920"/>
            <a:ext cx="1166774" cy="480435"/>
            <a:chOff x="0" y="0"/>
            <a:chExt cx="1555699" cy="6405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55695" cy="640586"/>
            </a:xfrm>
            <a:custGeom>
              <a:avLst/>
              <a:gdLst/>
              <a:ahLst/>
              <a:cxnLst/>
              <a:rect r="r" b="b" t="t" l="l"/>
              <a:pathLst>
                <a:path h="640586" w="1555695">
                  <a:moveTo>
                    <a:pt x="0" y="0"/>
                  </a:moveTo>
                  <a:lnTo>
                    <a:pt x="1555695" y="0"/>
                  </a:lnTo>
                  <a:lnTo>
                    <a:pt x="1555695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30" t="0" r="-2830" b="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555699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02"/>
                </a:lnSpc>
              </a:pPr>
              <a:r>
                <a:rPr lang="en-US" sz="25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4404866" y="3585858"/>
            <a:ext cx="304290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УДОСКОНАЛИТИ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868596" y="4114081"/>
            <a:ext cx="218173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CDD8E4"/>
                </a:solidFill>
                <a:latin typeface="Aptos"/>
                <a:ea typeface="Aptos"/>
                <a:cs typeface="Aptos"/>
                <a:sym typeface="Aptos"/>
              </a:rPr>
              <a:t>програми на основі даних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596950" y="7783297"/>
            <a:ext cx="256246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DAA541"/>
                </a:solidFill>
                <a:latin typeface="Aptos Bold"/>
                <a:ea typeface="Aptos Bold"/>
                <a:cs typeface="Aptos Bold"/>
                <a:sym typeface="Aptos Bold"/>
              </a:rPr>
              <a:t>КІНЦЕВА МЕТА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169569" y="8259547"/>
            <a:ext cx="1194887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2"/>
              </a:lnSpc>
            </a:pPr>
            <a:r>
              <a:rPr lang="en-US" sz="250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Швидка адаптація освіти до змін та стале зростання людського капіталу.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904101" y="5495658"/>
            <a:ext cx="256246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СТРАТЕГІЧНА РОЛЬ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75656" y="5971908"/>
            <a:ext cx="153366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b="true" sz="3002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Інститут перетворює університетські знання на розвиток людини, </a:t>
            </a:r>
          </a:p>
          <a:p>
            <a:pPr algn="ctr">
              <a:lnSpc>
                <a:spcPts val="3602"/>
              </a:lnSpc>
            </a:pPr>
            <a:r>
              <a:rPr lang="en-US" b="true" sz="3002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інноваційні рішення та суспільну цінність.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DAHUoqKrc1g</dc:identifier>
  <dcterms:modified xsi:type="dcterms:W3CDTF">2011-08-01T06:04:30Z</dcterms:modified>
  <cp:revision>1</cp:revision>
  <dc:title>Презентація Інститут безперервноїосвіти та інноваційного розвитку</dc:title>
</cp:coreProperties>
</file>